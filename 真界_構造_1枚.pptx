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68680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3000" b="1">
                <a:solidFill>
                  <a:srgbClr val="E6EDF3"/>
                </a:solidFill>
                <a:latin typeface="Meiryo"/>
                <a:ea typeface="Meiryo"/>
              </a:rPr>
              <a:t>真界（TrueNet）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86384"/>
            <a:ext cx="112471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0">
                <a:solidFill>
                  <a:srgbClr val="8B949E"/>
                </a:solidFill>
                <a:latin typeface="Meiryo"/>
                <a:ea typeface="Meiryo"/>
              </a:rPr>
              <a:t>記号界（ソフトウェア）と物理界（人・機械）を包括した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1">
                <a:solidFill>
                  <a:srgbClr val="58A6FF"/>
                </a:solidFill>
                <a:latin typeface="Meiryo"/>
                <a:ea typeface="Meiryo"/>
              </a:rPr>
              <a:t> 閉じた系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5029200" cy="416052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25400">
            <a:solidFill>
              <a:srgbClr val="58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81328"/>
            <a:ext cx="45720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58A6FF"/>
                </a:solidFill>
                <a:latin typeface="Meiryo"/>
                <a:ea typeface="Meiryo"/>
              </a:rPr>
              <a:t>記号界  SymbolWorld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02552" y="1371600"/>
            <a:ext cx="5029200" cy="416052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25400">
            <a:solidFill>
              <a:srgbClr val="3FB9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31152" y="1481328"/>
            <a:ext cx="45720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>
                <a:solidFill>
                  <a:srgbClr val="3FB950"/>
                </a:solidFill>
                <a:latin typeface="Meiryo"/>
                <a:ea typeface="Meiryo"/>
              </a:rPr>
              <a:t>物理界  PhysicalWorld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920240"/>
            <a:ext cx="4526280" cy="1828800"/>
          </a:xfrm>
          <a:prstGeom prst="roundRect">
            <a:avLst>
              <a:gd name="adj" fmla="val 6000"/>
            </a:avLst>
          </a:prstGeom>
          <a:solidFill>
            <a:srgbClr val="21262D"/>
          </a:solidFill>
          <a:ln w="12700">
            <a:solidFill>
              <a:srgbClr val="58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011680"/>
            <a:ext cx="420624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Meiryo"/>
                <a:ea typeface="Meiryo"/>
              </a:rPr>
              <a:t>HUMOS（土壌）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0">
                <a:solidFill>
                  <a:srgbClr val="8B949E"/>
                </a:solidFill>
                <a:latin typeface="Meiryo"/>
                <a:ea typeface="Meiryo"/>
              </a:rPr>
              <a:t>  状態空間管理基盤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2395728"/>
            <a:ext cx="2057400" cy="1188720"/>
          </a:xfrm>
          <a:prstGeom prst="roundRect">
            <a:avLst>
              <a:gd name="adj" fmla="val 6000"/>
            </a:avLst>
          </a:prstGeom>
          <a:solidFill>
            <a:srgbClr val="0D1117"/>
          </a:solidFill>
          <a:ln w="12700">
            <a:solidFill>
              <a:srgbClr val="58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1874519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58A6FF"/>
                </a:solidFill>
                <a:latin typeface="Meiryo"/>
                <a:ea typeface="Meiryo"/>
              </a:rPr>
              <a:t>SSS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0">
                <a:solidFill>
                  <a:srgbClr val="E6EDF3"/>
                </a:solidFill>
                <a:latin typeface="Meiryo"/>
                <a:ea typeface="Meiryo"/>
              </a:rPr>
              <a:t>空間状態システム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50" b="0">
                <a:solidFill>
                  <a:srgbClr val="8B949E"/>
                </a:solidFill>
                <a:latin typeface="Meiryo"/>
                <a:ea typeface="Meiryo"/>
              </a:rPr>
              <a:t>状態の認識・予測・通知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63240" y="2395728"/>
            <a:ext cx="2057400" cy="1188720"/>
          </a:xfrm>
          <a:prstGeom prst="roundRect">
            <a:avLst>
              <a:gd name="adj" fmla="val 6000"/>
            </a:avLst>
          </a:prstGeom>
          <a:solidFill>
            <a:srgbClr val="0D1117"/>
          </a:solidFill>
          <a:ln w="12700">
            <a:solidFill>
              <a:srgbClr val="58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54680" y="2468880"/>
            <a:ext cx="1874519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58A6FF"/>
                </a:solidFill>
                <a:latin typeface="Meiryo"/>
                <a:ea typeface="Meiryo"/>
              </a:rPr>
              <a:t>STN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0">
                <a:solidFill>
                  <a:srgbClr val="E6EDF3"/>
                </a:solidFill>
                <a:latin typeface="Meiryo"/>
                <a:ea typeface="Meiryo"/>
              </a:rPr>
              <a:t>状態遷移ネット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850" b="0">
                <a:solidFill>
                  <a:srgbClr val="8B949E"/>
                </a:solidFill>
                <a:latin typeface="Meiryo"/>
                <a:ea typeface="Meiryo"/>
              </a:rPr>
              <a:t>P（場所）＋T（遷移）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886200"/>
            <a:ext cx="4526280" cy="566928"/>
          </a:xfrm>
          <a:prstGeom prst="roundRect">
            <a:avLst>
              <a:gd name="adj" fmla="val 6000"/>
            </a:avLst>
          </a:prstGeom>
          <a:solidFill>
            <a:srgbClr val="21262D"/>
          </a:solidFill>
          <a:ln w="12700">
            <a:solidFill>
              <a:srgbClr val="58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959352"/>
            <a:ext cx="42062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Meiryo"/>
                <a:ea typeface="Meiryo"/>
              </a:rPr>
              <a:t>SOS  作動の運動器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0">
                <a:solidFill>
                  <a:srgbClr val="8B949E"/>
                </a:solidFill>
                <a:latin typeface="Meiryo"/>
                <a:ea typeface="Meiryo"/>
              </a:rPr>
              <a:t> Slack送信など、記号界で動かせるシステムを操作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572000"/>
            <a:ext cx="4526280" cy="8686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8B949E"/>
                </a:solidFill>
                <a:latin typeface="Meiryo"/>
                <a:ea typeface="Meiryo"/>
              </a:rPr>
              <a:t>判断エンジン（4元素）は不変、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8B949E"/>
                </a:solidFill>
                <a:latin typeface="Meiryo"/>
                <a:ea typeface="Meiryo"/>
              </a:rPr>
              <a:t>各業務の知識は差し替えデータ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950" b="1">
                <a:solidFill>
                  <a:srgbClr val="58A6FF"/>
                </a:solidFill>
                <a:latin typeface="Meiryo"/>
                <a:ea typeface="Meiryo"/>
              </a:rPr>
              <a:t> → どのドメインでも同一の OS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9440" y="1920240"/>
            <a:ext cx="4526280" cy="1828800"/>
          </a:xfrm>
          <a:prstGeom prst="roundRect">
            <a:avLst>
              <a:gd name="adj" fmla="val 6000"/>
            </a:avLst>
          </a:prstGeom>
          <a:solidFill>
            <a:srgbClr val="21262D"/>
          </a:solidFill>
          <a:ln w="12700">
            <a:solidFill>
              <a:srgbClr val="3FB9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0" y="2011680"/>
            <a:ext cx="420624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Meiryo"/>
                <a:ea typeface="Meiryo"/>
              </a:rPr>
              <a:t>実働（オペレータ）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0">
                <a:solidFill>
                  <a:srgbClr val="8B949E"/>
                </a:solidFill>
                <a:latin typeface="Meiryo"/>
                <a:ea typeface="Meiryo"/>
              </a:rPr>
              <a:t>  空間状態を変える主体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0" y="2395728"/>
            <a:ext cx="4160520" cy="1188720"/>
          </a:xfrm>
          <a:prstGeom prst="roundRect">
            <a:avLst>
              <a:gd name="adj" fmla="val 6000"/>
            </a:avLst>
          </a:prstGeom>
          <a:solidFill>
            <a:srgbClr val="0D1117"/>
          </a:solidFill>
          <a:ln w="12700">
            <a:solidFill>
              <a:srgbClr val="3FB9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69480" y="2487168"/>
            <a:ext cx="3931920" cy="10515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6EDF3"/>
                </a:solidFill>
                <a:latin typeface="Meiryo"/>
                <a:ea typeface="Meiryo"/>
              </a:rPr>
              <a:t>人 ・ 機械 ・ ロボット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E6EDF3"/>
                </a:solidFill>
                <a:latin typeface="Meiryo"/>
                <a:ea typeface="Meiryo"/>
              </a:rPr>
              <a:t>業務アプリ ・ 物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00" b="0">
                <a:solidFill>
                  <a:srgbClr val="8B949E"/>
                </a:solidFill>
                <a:latin typeface="Meiryo"/>
                <a:ea typeface="Meiryo"/>
              </a:rPr>
              <a:t>（圃場・発電機・在庫…）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0" y="3931920"/>
            <a:ext cx="4526280" cy="1463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50" b="0">
                <a:solidFill>
                  <a:srgbClr val="8B949E"/>
                </a:solidFill>
                <a:latin typeface="Meiryo"/>
                <a:ea typeface="Meiryo"/>
              </a:rPr>
              <a:t>記号界の判断が物理界へ届き（作動）、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50" b="0">
                <a:solidFill>
                  <a:srgbClr val="8B949E"/>
                </a:solidFill>
                <a:latin typeface="Meiryo"/>
                <a:ea typeface="Meiryo"/>
              </a:rPr>
              <a:t>物理界の実働が記号界へ還る（感覚）。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950" b="1">
                <a:solidFill>
                  <a:srgbClr val="3FB950"/>
                </a:solidFill>
                <a:latin typeface="Meiryo"/>
                <a:ea typeface="Meiryo"/>
              </a:rPr>
              <a:t>この往復で系が閉じる。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596128" y="1371600"/>
            <a:ext cx="1005840" cy="3291840"/>
          </a:xfrm>
          <a:prstGeom prst="roundRect">
            <a:avLst>
              <a:gd name="adj" fmla="val 6000"/>
            </a:avLst>
          </a:prstGeom>
          <a:solidFill>
            <a:srgbClr val="D299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0D1117"/>
                </a:solidFill>
                <a:latin typeface="Meiryo"/>
                <a:ea typeface="Meiryo"/>
              </a:rPr>
              <a:t>IF
膜</a:t>
            </a:r>
          </a:p>
          <a:p>
            <a:pPr algn="ctr"/>
            <a:r>
              <a:rPr sz="900">
                <a:solidFill>
                  <a:srgbClr val="0D1117"/>
                </a:solidFill>
                <a:latin typeface="Meiryo"/>
                <a:ea typeface="Meiryo"/>
              </a:rPr>
              <a:t>感覚・運動
（境界）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5486400" y="4846320"/>
            <a:ext cx="1234440" cy="292608"/>
          </a:xfrm>
          <a:prstGeom prst="rightArrow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74920" y="5175504"/>
            <a:ext cx="2057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58A6FF"/>
                </a:solidFill>
                <a:latin typeface="Meiryo"/>
                <a:ea typeface="Meiryo"/>
              </a:rPr>
              <a:t>作動（出力）</a:t>
            </a:r>
          </a:p>
        </p:txBody>
      </p:sp>
      <p:sp>
        <p:nvSpPr>
          <p:cNvPr id="25" name="Left Arrow 24"/>
          <p:cNvSpPr/>
          <p:nvPr/>
        </p:nvSpPr>
        <p:spPr>
          <a:xfrm>
            <a:off x="5486400" y="5440680"/>
            <a:ext cx="1234440" cy="292608"/>
          </a:xfrm>
          <a:prstGeom prst="leftArrow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74920" y="5769864"/>
            <a:ext cx="2057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00" b="1">
                <a:solidFill>
                  <a:srgbClr val="3FB950"/>
                </a:solidFill>
                <a:latin typeface="Meiryo"/>
                <a:ea typeface="Meiryo"/>
              </a:rPr>
              <a:t>感覚（入力）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6172200"/>
            <a:ext cx="11274552" cy="566928"/>
          </a:xfrm>
          <a:prstGeom prst="roundRect">
            <a:avLst>
              <a:gd name="adj" fmla="val 6000"/>
            </a:avLst>
          </a:prstGeom>
          <a:solidFill>
            <a:srgbClr val="21262D"/>
          </a:solidFill>
          <a:ln w="12700">
            <a:solidFill>
              <a:srgbClr val="D299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6245352"/>
            <a:ext cx="1097280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200" b="1">
                <a:solidFill>
                  <a:srgbClr val="D29922"/>
                </a:solidFill>
                <a:latin typeface="Meiryo"/>
                <a:ea typeface="Meiryo"/>
              </a:rPr>
              <a:t>核心  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Meiryo"/>
                <a:ea typeface="Meiryo"/>
              </a:rPr>
              <a:t>認知 → 評価 → 決定 → 投射 ＋ 作動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00" b="0">
                <a:solidFill>
                  <a:srgbClr val="8B949E"/>
                </a:solidFill>
                <a:latin typeface="Meiryo"/>
                <a:ea typeface="Meiryo"/>
              </a:rPr>
              <a:t>    （トラスト形成＝確率→決定＝意思決定の機械化・各Tの内部構造）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