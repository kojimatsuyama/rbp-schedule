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822960" y="2148840"/>
            <a:ext cx="128016" cy="13716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457200"/>
          </a:xfrm>
          <a:prstGeom prst="rect">
            <a:avLst/>
          </a:prstGeom>
          <a:noFill/>
        </p:spPr>
        <p:txBody>
          <a:bodyPr wrap="square" anchor="t" lIns="0" rIns="0" tIns="0" bIns="0">
            <a:spAutoFit/>
          </a:bodyPr>
          <a:lstStyle/>
          <a:p>
            <a:pPr algn="l">
              <a:lnSpc>
                <a:spcPct val="100000"/>
              </a:lnSpc>
            </a:pPr>
            <a:r>
              <a:rPr sz="1600" b="1">
                <a:solidFill>
                  <a:srgbClr val="58A6FF"/>
                </a:solidFill>
                <a:latin typeface="Meiryo"/>
              </a:rPr>
              <a:t>真界哲学</a:t>
            </a:r>
          </a:p>
        </p:txBody>
      </p:sp>
      <p:sp>
        <p:nvSpPr>
          <p:cNvPr id="4" name="TextBox 3"/>
          <p:cNvSpPr txBox="1"/>
          <p:nvPr/>
        </p:nvSpPr>
        <p:spPr>
          <a:xfrm>
            <a:off x="1097280" y="2331720"/>
            <a:ext cx="10515600" cy="1097280"/>
          </a:xfrm>
          <a:prstGeom prst="rect">
            <a:avLst/>
          </a:prstGeom>
          <a:noFill/>
        </p:spPr>
        <p:txBody>
          <a:bodyPr wrap="square" anchor="t" lIns="0" rIns="0" tIns="0" bIns="0">
            <a:spAutoFit/>
          </a:bodyPr>
          <a:lstStyle/>
          <a:p>
            <a:pPr algn="l">
              <a:lnSpc>
                <a:spcPct val="100000"/>
              </a:lnSpc>
            </a:pPr>
            <a:r>
              <a:rPr sz="4400" b="1">
                <a:solidFill>
                  <a:srgbClr val="E6EDF3"/>
                </a:solidFill>
                <a:latin typeface="Meiryo"/>
              </a:rPr>
              <a:t>真界哲学 — 報告書</a:t>
            </a:r>
          </a:p>
        </p:txBody>
      </p:sp>
      <p:sp>
        <p:nvSpPr>
          <p:cNvPr id="5" name="TextBox 4"/>
          <p:cNvSpPr txBox="1"/>
          <p:nvPr/>
        </p:nvSpPr>
        <p:spPr>
          <a:xfrm>
            <a:off x="1097280" y="3429000"/>
            <a:ext cx="10515600" cy="457200"/>
          </a:xfrm>
          <a:prstGeom prst="rect">
            <a:avLst/>
          </a:prstGeom>
          <a:noFill/>
        </p:spPr>
        <p:txBody>
          <a:bodyPr wrap="square" anchor="t" lIns="0" rIns="0" tIns="0" bIns="0">
            <a:spAutoFit/>
          </a:bodyPr>
          <a:lstStyle/>
          <a:p>
            <a:pPr algn="l">
              <a:lnSpc>
                <a:spcPct val="100000"/>
              </a:lnSpc>
            </a:pPr>
            <a:r>
              <a:rPr sz="1600" b="0">
                <a:solidFill>
                  <a:srgbClr val="8B949E"/>
                </a:solidFill>
                <a:latin typeface="Meiryo"/>
              </a:rPr>
              <a:t>1. 真界哲学とは    2. 新規性    3. 意味・意義</a:t>
            </a:r>
          </a:p>
        </p:txBody>
      </p:sp>
      <p:sp>
        <p:nvSpPr>
          <p:cNvPr id="6" name="TextBox 5"/>
          <p:cNvSpPr txBox="1"/>
          <p:nvPr/>
        </p:nvSpPr>
        <p:spPr>
          <a:xfrm>
            <a:off x="1097280" y="3977639"/>
            <a:ext cx="10515600" cy="365760"/>
          </a:xfrm>
          <a:prstGeom prst="rect">
            <a:avLst/>
          </a:prstGeom>
          <a:noFill/>
        </p:spPr>
        <p:txBody>
          <a:bodyPr wrap="square" anchor="t" lIns="0" rIns="0" tIns="0" bIns="0">
            <a:spAutoFit/>
          </a:bodyPr>
          <a:lstStyle/>
          <a:p>
            <a:pPr algn="l">
              <a:lnSpc>
                <a:spcPct val="100000"/>
              </a:lnSpc>
            </a:pPr>
            <a:r>
              <a:rPr sz="1400" b="0">
                <a:solidFill>
                  <a:srgbClr val="8B949E"/>
                </a:solidFill>
                <a:latin typeface="Meiryo"/>
              </a:rPr>
              <a:t>記号界と物理界を、はじめて一つの世界として定義した哲学</a:t>
            </a:r>
          </a:p>
        </p:txBody>
      </p:sp>
      <p:sp>
        <p:nvSpPr>
          <p:cNvPr id="7" name="TextBox 6"/>
          <p:cNvSpPr txBox="1"/>
          <p:nvPr/>
        </p:nvSpPr>
        <p:spPr>
          <a:xfrm>
            <a:off x="1097280" y="6126480"/>
            <a:ext cx="10058400" cy="365760"/>
          </a:xfrm>
          <a:prstGeom prst="rect">
            <a:avLst/>
          </a:prstGeom>
          <a:noFill/>
        </p:spPr>
        <p:txBody>
          <a:bodyPr wrap="square" anchor="t" lIns="0" rIns="0" tIns="0" bIns="0">
            <a:spAutoFit/>
          </a:bodyPr>
          <a:lstStyle/>
          <a:p>
            <a:pPr algn="l">
              <a:lnSpc>
                <a:spcPct val="100000"/>
              </a:lnSpc>
            </a:pPr>
            <a:r>
              <a:rPr sz="1100" b="0">
                <a:solidFill>
                  <a:srgbClr val="8B949E"/>
                </a:solidFill>
                <a:latin typeface="Meiryo"/>
              </a:rPr>
              <a:t>2026-09-15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1. 真界哲学とは</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定義 — 真界の正体</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Rounded Rectangle 5"/>
          <p:cNvSpPr/>
          <p:nvPr/>
        </p:nvSpPr>
        <p:spPr>
          <a:xfrm>
            <a:off x="502920" y="1417320"/>
            <a:ext cx="11201400" cy="1600200"/>
          </a:xfrm>
          <a:prstGeom prst="roundRect">
            <a:avLst>
              <a:gd name="adj" fmla="val 6000"/>
            </a:avLst>
          </a:prstGeom>
          <a:solidFill>
            <a:srgbClr val="21262D"/>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10698480" cy="1280160"/>
          </a:xfrm>
          <a:prstGeom prst="rect">
            <a:avLst/>
          </a:prstGeom>
          <a:noFill/>
        </p:spPr>
        <p:txBody>
          <a:bodyPr wrap="square" anchor="ctr" lIns="0" rIns="0" tIns="0" bIns="0">
            <a:spAutoFit/>
          </a:bodyPr>
          <a:lstStyle/>
          <a:p>
            <a:pPr algn="l">
              <a:lnSpc>
                <a:spcPct val="115000"/>
              </a:lnSpc>
            </a:pPr>
            <a:r>
              <a:rPr sz="1900" b="1">
                <a:solidFill>
                  <a:srgbClr val="E6EDF3"/>
                </a:solidFill>
                <a:latin typeface="Meiryo"/>
              </a:rPr>
              <a:t>真界は、</a:t>
            </a:r>
            <a:r>
              <a:rPr sz="1900" b="0">
                <a:solidFill>
                  <a:srgbClr val="E6EDF3"/>
                </a:solidFill>
                <a:latin typeface="Meiryo"/>
              </a:rPr>
              <a:t>記号界と物理界が、もたれかかりによって交互に運動し、</a:t>
            </a:r>
          </a:p>
          <a:p>
            <a:pPr algn="l">
              <a:lnSpc>
                <a:spcPct val="115000"/>
              </a:lnSpc>
            </a:pPr>
            <a:r>
              <a:rPr sz="1900" b="0">
                <a:solidFill>
                  <a:srgbClr val="E6EDF3"/>
                </a:solidFill>
                <a:latin typeface="Meiryo"/>
              </a:rPr>
              <a:t>理と実働がトラストの中でブリッジされ、</a:t>
            </a:r>
            <a:r>
              <a:rPr sz="1900" b="1">
                <a:solidFill>
                  <a:srgbClr val="58A6FF"/>
                </a:solidFill>
                <a:latin typeface="Meiryo"/>
              </a:rPr>
              <a:t>未来永劫のドミノとして自己持続する系</a:t>
            </a:r>
            <a:r>
              <a:rPr sz="1900" b="0">
                <a:solidFill>
                  <a:srgbClr val="E6EDF3"/>
                </a:solidFill>
                <a:latin typeface="Meiryo"/>
              </a:rPr>
              <a:t>である。</a:t>
            </a:r>
          </a:p>
        </p:txBody>
      </p:sp>
      <p:sp>
        <p:nvSpPr>
          <p:cNvPr id="8" name="TextBox 7"/>
          <p:cNvSpPr txBox="1"/>
          <p:nvPr/>
        </p:nvSpPr>
        <p:spPr>
          <a:xfrm>
            <a:off x="502920" y="3246120"/>
            <a:ext cx="10972800" cy="365760"/>
          </a:xfrm>
          <a:prstGeom prst="rect">
            <a:avLst/>
          </a:prstGeom>
          <a:noFill/>
        </p:spPr>
        <p:txBody>
          <a:bodyPr wrap="square" anchor="t" lIns="0" rIns="0" tIns="0" bIns="0">
            <a:spAutoFit/>
          </a:bodyPr>
          <a:lstStyle/>
          <a:p>
            <a:pPr algn="l">
              <a:lnSpc>
                <a:spcPct val="100000"/>
              </a:lnSpc>
            </a:pPr>
            <a:r>
              <a:rPr sz="1500" b="1">
                <a:solidFill>
                  <a:srgbClr val="FFFFFF"/>
                </a:solidFill>
                <a:latin typeface="Meiryo"/>
              </a:rPr>
              <a:t>哲学と実装の二層</a:t>
            </a:r>
          </a:p>
        </p:txBody>
      </p:sp>
      <p:sp>
        <p:nvSpPr>
          <p:cNvPr id="9" name="Rounded Rectangle 8"/>
          <p:cNvSpPr/>
          <p:nvPr/>
        </p:nvSpPr>
        <p:spPr>
          <a:xfrm>
            <a:off x="502920" y="3611880"/>
            <a:ext cx="5486400" cy="2377440"/>
          </a:xfrm>
          <a:prstGeom prst="roundRect">
            <a:avLst>
              <a:gd name="adj" fmla="val 6000"/>
            </a:avLst>
          </a:prstGeom>
          <a:solidFill>
            <a:srgbClr val="161B22"/>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794760"/>
            <a:ext cx="5029200" cy="365760"/>
          </a:xfrm>
          <a:prstGeom prst="rect">
            <a:avLst/>
          </a:prstGeom>
          <a:noFill/>
        </p:spPr>
        <p:txBody>
          <a:bodyPr wrap="square" anchor="t" lIns="0" rIns="0" tIns="0" bIns="0">
            <a:spAutoFit/>
          </a:bodyPr>
          <a:lstStyle/>
          <a:p>
            <a:pPr algn="l">
              <a:lnSpc>
                <a:spcPct val="100000"/>
              </a:lnSpc>
            </a:pPr>
            <a:r>
              <a:rPr sz="1500" b="1">
                <a:solidFill>
                  <a:srgbClr val="58A6FF"/>
                </a:solidFill>
                <a:latin typeface="Meiryo"/>
              </a:rPr>
              <a:t>真界哲学（TW）</a:t>
            </a:r>
          </a:p>
        </p:txBody>
      </p:sp>
      <p:sp>
        <p:nvSpPr>
          <p:cNvPr id="11" name="TextBox 10"/>
          <p:cNvSpPr txBox="1"/>
          <p:nvPr/>
        </p:nvSpPr>
        <p:spPr>
          <a:xfrm>
            <a:off x="731520" y="4160520"/>
            <a:ext cx="5029200" cy="1737360"/>
          </a:xfrm>
          <a:prstGeom prst="rect">
            <a:avLst/>
          </a:prstGeom>
          <a:noFill/>
        </p:spPr>
        <p:txBody>
          <a:bodyPr wrap="square" anchor="t" lIns="0" rIns="0" tIns="0" bIns="0">
            <a:spAutoFit/>
          </a:bodyPr>
          <a:lstStyle/>
          <a:p>
            <a:pPr algn="l">
              <a:lnSpc>
                <a:spcPct val="112000"/>
              </a:lnSpc>
              <a:spcAft>
                <a:spcPts val="400"/>
              </a:spcAft>
            </a:pPr>
            <a:r>
              <a:rPr sz="1200" b="1">
                <a:solidFill>
                  <a:srgbClr val="E6EDF3"/>
                </a:solidFill>
                <a:latin typeface="Meiryo"/>
              </a:rPr>
              <a:t>純粋な哲学（経営哲学でない）</a:t>
            </a:r>
          </a:p>
          <a:p>
            <a:pPr algn="l">
              <a:lnSpc>
                <a:spcPct val="112000"/>
              </a:lnSpc>
              <a:spcAft>
                <a:spcPts val="400"/>
              </a:spcAft>
            </a:pPr>
            <a:r>
              <a:rPr sz="1100" b="0">
                <a:solidFill>
                  <a:srgbClr val="8B949E"/>
                </a:solidFill>
                <a:latin typeface="Meiryo"/>
              </a:rPr>
              <a:t>人という知能生命が、脳の中の記号と身体が接した物理界に存在し、身体を通じて物理界を記号化して認知し、脳で評価と決定を行い、その確率にかけて身体を動かしている、という哲学</a:t>
            </a:r>
          </a:p>
        </p:txBody>
      </p:sp>
      <p:sp>
        <p:nvSpPr>
          <p:cNvPr id="12" name="Rounded Rectangle 11"/>
          <p:cNvSpPr/>
          <p:nvPr/>
        </p:nvSpPr>
        <p:spPr>
          <a:xfrm>
            <a:off x="6217920" y="3611880"/>
            <a:ext cx="5486400" cy="2377440"/>
          </a:xfrm>
          <a:prstGeom prst="roundRect">
            <a:avLst>
              <a:gd name="adj" fmla="val 6000"/>
            </a:avLst>
          </a:prstGeom>
          <a:solidFill>
            <a:srgbClr val="161B22"/>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3794760"/>
            <a:ext cx="5029200" cy="365760"/>
          </a:xfrm>
          <a:prstGeom prst="rect">
            <a:avLst/>
          </a:prstGeom>
          <a:noFill/>
        </p:spPr>
        <p:txBody>
          <a:bodyPr wrap="square" anchor="t" lIns="0" rIns="0" tIns="0" bIns="0">
            <a:spAutoFit/>
          </a:bodyPr>
          <a:lstStyle/>
          <a:p>
            <a:pPr algn="l">
              <a:lnSpc>
                <a:spcPct val="100000"/>
              </a:lnSpc>
            </a:pPr>
            <a:r>
              <a:rPr sz="1500" b="1">
                <a:solidFill>
                  <a:srgbClr val="3FB950"/>
                </a:solidFill>
                <a:latin typeface="Meiryo"/>
              </a:rPr>
              <a:t>HUMOS ＝ 実装</a:t>
            </a:r>
          </a:p>
        </p:txBody>
      </p:sp>
      <p:sp>
        <p:nvSpPr>
          <p:cNvPr id="14" name="TextBox 13"/>
          <p:cNvSpPr txBox="1"/>
          <p:nvPr/>
        </p:nvSpPr>
        <p:spPr>
          <a:xfrm>
            <a:off x="6446520" y="4160520"/>
            <a:ext cx="5029200" cy="1737360"/>
          </a:xfrm>
          <a:prstGeom prst="rect">
            <a:avLst/>
          </a:prstGeom>
          <a:noFill/>
        </p:spPr>
        <p:txBody>
          <a:bodyPr wrap="square" anchor="t" lIns="0" rIns="0" tIns="0" bIns="0">
            <a:spAutoFit/>
          </a:bodyPr>
          <a:lstStyle/>
          <a:p>
            <a:pPr algn="l">
              <a:lnSpc>
                <a:spcPct val="112000"/>
              </a:lnSpc>
              <a:spcAft>
                <a:spcPts val="400"/>
              </a:spcAft>
            </a:pPr>
            <a:r>
              <a:rPr sz="1200" b="1">
                <a:solidFill>
                  <a:srgbClr val="E6EDF3"/>
                </a:solidFill>
                <a:latin typeface="Meiryo"/>
              </a:rPr>
              <a:t>その哲学の経営工学への実装</a:t>
            </a:r>
          </a:p>
          <a:p>
            <a:pPr algn="l">
              <a:lnSpc>
                <a:spcPct val="112000"/>
              </a:lnSpc>
              <a:spcAft>
                <a:spcPts val="400"/>
              </a:spcAft>
            </a:pPr>
            <a:r>
              <a:rPr sz="1100" b="0">
                <a:solidFill>
                  <a:srgbClr val="8B949E"/>
                </a:solidFill>
                <a:latin typeface="Meiryo"/>
              </a:rPr>
              <a:t>人と機械の実働にスポットを当てた実装（STN・発火ループ・帰還・SSS・IF・SOS）。他のサイバネティクス実装への一般化は未確定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1. 真界哲学とは</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構成概念</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Rounded Rectangle 5"/>
          <p:cNvSpPr/>
          <p:nvPr/>
        </p:nvSpPr>
        <p:spPr>
          <a:xfrm>
            <a:off x="502920" y="1371600"/>
            <a:ext cx="3611880" cy="1417320"/>
          </a:xfrm>
          <a:prstGeom prst="roundRect">
            <a:avLst>
              <a:gd name="adj" fmla="val 6000"/>
            </a:avLst>
          </a:prstGeom>
          <a:solidFill>
            <a:srgbClr val="161B22"/>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481328"/>
            <a:ext cx="3246120" cy="365760"/>
          </a:xfrm>
          <a:prstGeom prst="rect">
            <a:avLst/>
          </a:prstGeom>
          <a:noFill/>
        </p:spPr>
        <p:txBody>
          <a:bodyPr wrap="square" anchor="t" lIns="0" rIns="0" tIns="0" bIns="0">
            <a:spAutoFit/>
          </a:bodyPr>
          <a:lstStyle/>
          <a:p>
            <a:pPr algn="l">
              <a:lnSpc>
                <a:spcPct val="100000"/>
              </a:lnSpc>
            </a:pPr>
            <a:r>
              <a:rPr sz="1250" b="1">
                <a:solidFill>
                  <a:srgbClr val="58A6FF"/>
                </a:solidFill>
                <a:latin typeface="Meiryo"/>
              </a:rPr>
              <a:t>もたれかかり（受動的能動）</a:t>
            </a:r>
          </a:p>
        </p:txBody>
      </p:sp>
      <p:sp>
        <p:nvSpPr>
          <p:cNvPr id="8" name="TextBox 7"/>
          <p:cNvSpPr txBox="1"/>
          <p:nvPr/>
        </p:nvSpPr>
        <p:spPr>
          <a:xfrm>
            <a:off x="685800" y="1828800"/>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芯。前のドミノがもたれかかり次のドミノが連動。力でも重力でも意思でもない。一息で読む</a:t>
            </a:r>
          </a:p>
        </p:txBody>
      </p:sp>
      <p:sp>
        <p:nvSpPr>
          <p:cNvPr id="9" name="Rounded Rectangle 8"/>
          <p:cNvSpPr/>
          <p:nvPr/>
        </p:nvSpPr>
        <p:spPr>
          <a:xfrm>
            <a:off x="4297680" y="1371600"/>
            <a:ext cx="3611880" cy="1417320"/>
          </a:xfrm>
          <a:prstGeom prst="roundRect">
            <a:avLst>
              <a:gd name="adj" fmla="val 6000"/>
            </a:avLst>
          </a:prstGeom>
          <a:solidFill>
            <a:srgbClr val="161B22"/>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80560" y="1481328"/>
            <a:ext cx="3246120" cy="365760"/>
          </a:xfrm>
          <a:prstGeom prst="rect">
            <a:avLst/>
          </a:prstGeom>
          <a:noFill/>
        </p:spPr>
        <p:txBody>
          <a:bodyPr wrap="square" anchor="t" lIns="0" rIns="0" tIns="0" bIns="0">
            <a:spAutoFit/>
          </a:bodyPr>
          <a:lstStyle/>
          <a:p>
            <a:pPr algn="l">
              <a:lnSpc>
                <a:spcPct val="100000"/>
              </a:lnSpc>
            </a:pPr>
            <a:r>
              <a:rPr sz="1250" b="1">
                <a:solidFill>
                  <a:srgbClr val="58A6FF"/>
                </a:solidFill>
                <a:latin typeface="Meiryo"/>
              </a:rPr>
              <a:t>交互</a:t>
            </a:r>
          </a:p>
        </p:txBody>
      </p:sp>
      <p:sp>
        <p:nvSpPr>
          <p:cNvPr id="11" name="TextBox 10"/>
          <p:cNvSpPr txBox="1"/>
          <p:nvPr/>
        </p:nvSpPr>
        <p:spPr>
          <a:xfrm>
            <a:off x="4480560" y="1828800"/>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交わらない二界が一つになる方式（記号界物理界…）。抱合でも還元でもない</a:t>
            </a:r>
          </a:p>
        </p:txBody>
      </p:sp>
      <p:sp>
        <p:nvSpPr>
          <p:cNvPr id="12" name="Rounded Rectangle 11"/>
          <p:cNvSpPr/>
          <p:nvPr/>
        </p:nvSpPr>
        <p:spPr>
          <a:xfrm>
            <a:off x="8092440" y="1371600"/>
            <a:ext cx="3611880" cy="1417320"/>
          </a:xfrm>
          <a:prstGeom prst="roundRect">
            <a:avLst>
              <a:gd name="adj" fmla="val 6000"/>
            </a:avLst>
          </a:prstGeom>
          <a:solidFill>
            <a:srgbClr val="161B22"/>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75320" y="1481328"/>
            <a:ext cx="3246120" cy="365760"/>
          </a:xfrm>
          <a:prstGeom prst="rect">
            <a:avLst/>
          </a:prstGeom>
          <a:noFill/>
        </p:spPr>
        <p:txBody>
          <a:bodyPr wrap="square" anchor="t" lIns="0" rIns="0" tIns="0" bIns="0">
            <a:spAutoFit/>
          </a:bodyPr>
          <a:lstStyle/>
          <a:p>
            <a:pPr algn="l">
              <a:lnSpc>
                <a:spcPct val="100000"/>
              </a:lnSpc>
            </a:pPr>
            <a:r>
              <a:rPr sz="1250" b="1">
                <a:solidFill>
                  <a:srgbClr val="58A6FF"/>
                </a:solidFill>
                <a:latin typeface="Meiryo"/>
              </a:rPr>
              <a:t>二重性</a:t>
            </a:r>
          </a:p>
        </p:txBody>
      </p:sp>
      <p:sp>
        <p:nvSpPr>
          <p:cNvPr id="14" name="TextBox 13"/>
          <p:cNvSpPr txBox="1"/>
          <p:nvPr/>
        </p:nvSpPr>
        <p:spPr>
          <a:xfrm>
            <a:off x="8275320" y="1828800"/>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構造はネットワーク、定義は一つの世界。TrueNet→TrueWorld改名=哲学の簡素化</a:t>
            </a:r>
          </a:p>
        </p:txBody>
      </p:sp>
      <p:sp>
        <p:nvSpPr>
          <p:cNvPr id="15" name="Rounded Rectangle 14"/>
          <p:cNvSpPr/>
          <p:nvPr/>
        </p:nvSpPr>
        <p:spPr>
          <a:xfrm>
            <a:off x="502920" y="2953512"/>
            <a:ext cx="3611880" cy="1417320"/>
          </a:xfrm>
          <a:prstGeom prst="roundRect">
            <a:avLst>
              <a:gd name="adj" fmla="val 6000"/>
            </a:avLst>
          </a:prstGeom>
          <a:solidFill>
            <a:srgbClr val="161B22"/>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3063240"/>
            <a:ext cx="3246120" cy="365760"/>
          </a:xfrm>
          <a:prstGeom prst="rect">
            <a:avLst/>
          </a:prstGeom>
          <a:noFill/>
        </p:spPr>
        <p:txBody>
          <a:bodyPr wrap="square" anchor="t" lIns="0" rIns="0" tIns="0" bIns="0">
            <a:spAutoFit/>
          </a:bodyPr>
          <a:lstStyle/>
          <a:p>
            <a:pPr algn="l">
              <a:lnSpc>
                <a:spcPct val="100000"/>
              </a:lnSpc>
            </a:pPr>
            <a:r>
              <a:rPr sz="1250" b="1">
                <a:solidFill>
                  <a:srgbClr val="3FB950"/>
                </a:solidFill>
                <a:latin typeface="Meiryo"/>
              </a:rPr>
              <a:t>トラスト元素（5元素）</a:t>
            </a:r>
          </a:p>
        </p:txBody>
      </p:sp>
      <p:sp>
        <p:nvSpPr>
          <p:cNvPr id="17" name="TextBox 16"/>
          <p:cNvSpPr txBox="1"/>
          <p:nvPr/>
        </p:nvSpPr>
        <p:spPr>
          <a:xfrm>
            <a:off x="685800" y="3410712"/>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認知→評価→決定→投射→作動。二界を渡る汎用の「理」の順序セット</a:t>
            </a:r>
          </a:p>
        </p:txBody>
      </p:sp>
      <p:sp>
        <p:nvSpPr>
          <p:cNvPr id="18" name="Rounded Rectangle 17"/>
          <p:cNvSpPr/>
          <p:nvPr/>
        </p:nvSpPr>
        <p:spPr>
          <a:xfrm>
            <a:off x="4297680" y="2953512"/>
            <a:ext cx="3611880" cy="1417320"/>
          </a:xfrm>
          <a:prstGeom prst="roundRect">
            <a:avLst>
              <a:gd name="adj" fmla="val 6000"/>
            </a:avLst>
          </a:prstGeom>
          <a:solidFill>
            <a:srgbClr val="161B22"/>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80560" y="3063240"/>
            <a:ext cx="3246120" cy="365760"/>
          </a:xfrm>
          <a:prstGeom prst="rect">
            <a:avLst/>
          </a:prstGeom>
          <a:noFill/>
        </p:spPr>
        <p:txBody>
          <a:bodyPr wrap="square" anchor="t" lIns="0" rIns="0" tIns="0" bIns="0">
            <a:spAutoFit/>
          </a:bodyPr>
          <a:lstStyle/>
          <a:p>
            <a:pPr algn="l">
              <a:lnSpc>
                <a:spcPct val="100000"/>
              </a:lnSpc>
            </a:pPr>
            <a:r>
              <a:rPr sz="1250" b="1">
                <a:solidFill>
                  <a:srgbClr val="58A6FF"/>
                </a:solidFill>
                <a:latin typeface="Meiryo"/>
              </a:rPr>
              <a:t>理＝順＝運動の帰結</a:t>
            </a:r>
          </a:p>
        </p:txBody>
      </p:sp>
      <p:sp>
        <p:nvSpPr>
          <p:cNvPr id="20" name="TextBox 19"/>
          <p:cNvSpPr txBox="1"/>
          <p:nvPr/>
        </p:nvSpPr>
        <p:spPr>
          <a:xfrm>
            <a:off x="4480560" y="3410712"/>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理は法則でなく運動の帰結。運動が法則を構成する</a:t>
            </a:r>
          </a:p>
        </p:txBody>
      </p:sp>
      <p:sp>
        <p:nvSpPr>
          <p:cNvPr id="21" name="Rounded Rectangle 20"/>
          <p:cNvSpPr/>
          <p:nvPr/>
        </p:nvSpPr>
        <p:spPr>
          <a:xfrm>
            <a:off x="8092440" y="2953512"/>
            <a:ext cx="3611880" cy="1417320"/>
          </a:xfrm>
          <a:prstGeom prst="roundRect">
            <a:avLst>
              <a:gd name="adj" fmla="val 6000"/>
            </a:avLst>
          </a:prstGeom>
          <a:solidFill>
            <a:srgbClr val="161B22"/>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75320" y="3063240"/>
            <a:ext cx="3246120" cy="365760"/>
          </a:xfrm>
          <a:prstGeom prst="rect">
            <a:avLst/>
          </a:prstGeom>
          <a:noFill/>
        </p:spPr>
        <p:txBody>
          <a:bodyPr wrap="square" anchor="t" lIns="0" rIns="0" tIns="0" bIns="0">
            <a:spAutoFit/>
          </a:bodyPr>
          <a:lstStyle/>
          <a:p>
            <a:pPr algn="l">
              <a:lnSpc>
                <a:spcPct val="100000"/>
              </a:lnSpc>
            </a:pPr>
            <a:r>
              <a:rPr sz="1250" b="1">
                <a:solidFill>
                  <a:srgbClr val="58A6FF"/>
                </a:solidFill>
                <a:latin typeface="Meiryo"/>
              </a:rPr>
              <a:t>自動無限運動</a:t>
            </a:r>
          </a:p>
        </p:txBody>
      </p:sp>
      <p:sp>
        <p:nvSpPr>
          <p:cNvPr id="23" name="TextBox 22"/>
          <p:cNvSpPr txBox="1"/>
          <p:nvPr/>
        </p:nvSpPr>
        <p:spPr>
          <a:xfrm>
            <a:off x="8275320" y="3410712"/>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後ろ向きにこぎながら未来にスパークし続ける</a:t>
            </a:r>
          </a:p>
        </p:txBody>
      </p:sp>
      <p:sp>
        <p:nvSpPr>
          <p:cNvPr id="24" name="Rounded Rectangle 23"/>
          <p:cNvSpPr/>
          <p:nvPr/>
        </p:nvSpPr>
        <p:spPr>
          <a:xfrm>
            <a:off x="502920" y="4535424"/>
            <a:ext cx="3611880" cy="1417320"/>
          </a:xfrm>
          <a:prstGeom prst="roundRect">
            <a:avLst>
              <a:gd name="adj" fmla="val 6000"/>
            </a:avLst>
          </a:prstGeom>
          <a:solidFill>
            <a:srgbClr val="161B22"/>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5800" y="4645152"/>
            <a:ext cx="3246120" cy="365760"/>
          </a:xfrm>
          <a:prstGeom prst="rect">
            <a:avLst/>
          </a:prstGeom>
          <a:noFill/>
        </p:spPr>
        <p:txBody>
          <a:bodyPr wrap="square" anchor="t" lIns="0" rIns="0" tIns="0" bIns="0">
            <a:spAutoFit/>
          </a:bodyPr>
          <a:lstStyle/>
          <a:p>
            <a:pPr algn="l">
              <a:lnSpc>
                <a:spcPct val="100000"/>
              </a:lnSpc>
            </a:pPr>
            <a:r>
              <a:rPr sz="1250" b="1">
                <a:solidFill>
                  <a:srgbClr val="D29922"/>
                </a:solidFill>
                <a:latin typeface="Meiryo"/>
              </a:rPr>
              <a:t>重力の発生（M0）</a:t>
            </a:r>
          </a:p>
        </p:txBody>
      </p:sp>
      <p:sp>
        <p:nvSpPr>
          <p:cNvPr id="26" name="TextBox 25"/>
          <p:cNvSpPr txBox="1"/>
          <p:nvPr/>
        </p:nvSpPr>
        <p:spPr>
          <a:xfrm>
            <a:off x="685800" y="4992624"/>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最初の押し。以後系は自ら動く</a:t>
            </a:r>
          </a:p>
        </p:txBody>
      </p:sp>
      <p:sp>
        <p:nvSpPr>
          <p:cNvPr id="27" name="Rounded Rectangle 26"/>
          <p:cNvSpPr/>
          <p:nvPr/>
        </p:nvSpPr>
        <p:spPr>
          <a:xfrm>
            <a:off x="4297680" y="4535424"/>
            <a:ext cx="3611880" cy="1417320"/>
          </a:xfrm>
          <a:prstGeom prst="roundRect">
            <a:avLst>
              <a:gd name="adj" fmla="val 6000"/>
            </a:avLst>
          </a:prstGeom>
          <a:solidFill>
            <a:srgbClr val="161B22"/>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80560" y="4645152"/>
            <a:ext cx="3246120" cy="365760"/>
          </a:xfrm>
          <a:prstGeom prst="rect">
            <a:avLst/>
          </a:prstGeom>
          <a:noFill/>
        </p:spPr>
        <p:txBody>
          <a:bodyPr wrap="square" anchor="t" lIns="0" rIns="0" tIns="0" bIns="0">
            <a:spAutoFit/>
          </a:bodyPr>
          <a:lstStyle/>
          <a:p>
            <a:pPr algn="l">
              <a:lnSpc>
                <a:spcPct val="100000"/>
              </a:lnSpc>
            </a:pPr>
            <a:r>
              <a:rPr sz="1250" b="1">
                <a:solidFill>
                  <a:srgbClr val="3FB950"/>
                </a:solidFill>
                <a:latin typeface="Meiryo"/>
              </a:rPr>
              <a:t>理の橋（ロジックブリッジ）</a:t>
            </a:r>
          </a:p>
        </p:txBody>
      </p:sp>
      <p:sp>
        <p:nvSpPr>
          <p:cNvPr id="29" name="TextBox 28"/>
          <p:cNvSpPr txBox="1"/>
          <p:nvPr/>
        </p:nvSpPr>
        <p:spPr>
          <a:xfrm>
            <a:off x="4480560" y="4992624"/>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記号界と物理界を渡すブリッジ。送り込みが成功する</a:t>
            </a:r>
          </a:p>
        </p:txBody>
      </p:sp>
      <p:sp>
        <p:nvSpPr>
          <p:cNvPr id="30" name="Rounded Rectangle 29"/>
          <p:cNvSpPr/>
          <p:nvPr/>
        </p:nvSpPr>
        <p:spPr>
          <a:xfrm>
            <a:off x="8092440" y="4535424"/>
            <a:ext cx="3611880" cy="1417320"/>
          </a:xfrm>
          <a:prstGeom prst="roundRect">
            <a:avLst>
              <a:gd name="adj" fmla="val 6000"/>
            </a:avLst>
          </a:prstGeom>
          <a:solidFill>
            <a:srgbClr val="161B22"/>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75320" y="4645152"/>
            <a:ext cx="3246120" cy="365760"/>
          </a:xfrm>
          <a:prstGeom prst="rect">
            <a:avLst/>
          </a:prstGeom>
          <a:noFill/>
        </p:spPr>
        <p:txBody>
          <a:bodyPr wrap="square" anchor="t" lIns="0" rIns="0" tIns="0" bIns="0">
            <a:spAutoFit/>
          </a:bodyPr>
          <a:lstStyle/>
          <a:p>
            <a:pPr algn="l">
              <a:lnSpc>
                <a:spcPct val="100000"/>
              </a:lnSpc>
            </a:pPr>
            <a:r>
              <a:rPr sz="1250" b="1">
                <a:solidFill>
                  <a:srgbClr val="D29922"/>
                </a:solidFill>
                <a:latin typeface="Meiryo"/>
              </a:rPr>
              <a:t>未来永劫のドミノ</a:t>
            </a:r>
          </a:p>
        </p:txBody>
      </p:sp>
      <p:sp>
        <p:nvSpPr>
          <p:cNvPr id="32" name="TextBox 31"/>
          <p:cNvSpPr txBox="1"/>
          <p:nvPr/>
        </p:nvSpPr>
        <p:spPr>
          <a:xfrm>
            <a:off x="8275320" y="4992624"/>
            <a:ext cx="3246120" cy="868680"/>
          </a:xfrm>
          <a:prstGeom prst="rect">
            <a:avLst/>
          </a:prstGeom>
          <a:noFill/>
        </p:spPr>
        <p:txBody>
          <a:bodyPr wrap="square" anchor="t" lIns="0" rIns="0" tIns="0" bIns="0">
            <a:spAutoFit/>
          </a:bodyPr>
          <a:lstStyle/>
          <a:p>
            <a:pPr algn="l">
              <a:lnSpc>
                <a:spcPct val="105000"/>
              </a:lnSpc>
            </a:pPr>
            <a:r>
              <a:rPr sz="950" b="0">
                <a:solidFill>
                  <a:srgbClr val="8B949E"/>
                </a:solidFill>
                <a:latin typeface="Meiryo"/>
              </a:rPr>
              <a:t>トラスト形成→実働→帰還→次の形成が自己持続。真界＝生命の現象論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1. 真界哲学とは</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要約 — 真骨頂</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Rounded Rectangle 5"/>
          <p:cNvSpPr/>
          <p:nvPr/>
        </p:nvSpPr>
        <p:spPr>
          <a:xfrm>
            <a:off x="502920" y="1463040"/>
            <a:ext cx="11201400" cy="1920240"/>
          </a:xfrm>
          <a:prstGeom prst="roundRect">
            <a:avLst>
              <a:gd name="adj" fmla="val 6000"/>
            </a:avLst>
          </a:prstGeom>
          <a:solidFill>
            <a:srgbClr val="21262D"/>
          </a:solidFill>
          <a:ln w="1905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45920"/>
            <a:ext cx="10698480" cy="1554480"/>
          </a:xfrm>
          <a:prstGeom prst="rect">
            <a:avLst/>
          </a:prstGeom>
          <a:noFill/>
        </p:spPr>
        <p:txBody>
          <a:bodyPr wrap="square" anchor="ctr" lIns="0" rIns="0" tIns="0" bIns="0">
            <a:spAutoFit/>
          </a:bodyPr>
          <a:lstStyle/>
          <a:p>
            <a:pPr algn="l">
              <a:lnSpc>
                <a:spcPct val="120000"/>
              </a:lnSpc>
            </a:pPr>
            <a:r>
              <a:rPr sz="1600" b="0">
                <a:solidFill>
                  <a:srgbClr val="E6EDF3"/>
                </a:solidFill>
                <a:latin typeface="Meiryo"/>
              </a:rPr>
              <a:t>真界哲学は、lean 哲学であって、その真骨頂は、従来の哲学が越えられなかった</a:t>
            </a:r>
            <a:r>
              <a:rPr sz="1600" b="1">
                <a:solidFill>
                  <a:srgbClr val="D29922"/>
                </a:solidFill>
                <a:latin typeface="Meiryo"/>
              </a:rPr>
              <a:t>記号界と物理界を統合した統合世界として哲学的に定義可能にしたこと</a:t>
            </a:r>
            <a:r>
              <a:rPr sz="1600" b="0">
                <a:solidFill>
                  <a:srgbClr val="E6EDF3"/>
                </a:solidFill>
                <a:latin typeface="Meiryo"/>
              </a:rPr>
              <a:t>である。</a:t>
            </a:r>
          </a:p>
          <a:p>
            <a:pPr algn="l">
              <a:lnSpc>
                <a:spcPct val="120000"/>
              </a:lnSpc>
            </a:pPr>
            <a:r>
              <a:rPr sz="1600" b="0">
                <a:solidFill>
                  <a:srgbClr val="E6EDF3"/>
                </a:solidFill>
                <a:latin typeface="Meiryo"/>
              </a:rPr>
              <a:t>それは、「理＝ロゴス」に</a:t>
            </a:r>
            <a:r>
              <a:rPr sz="1600" b="1">
                <a:solidFill>
                  <a:srgbClr val="D29922"/>
                </a:solidFill>
                <a:latin typeface="Meiryo"/>
              </a:rPr>
              <a:t>汎用をもたせる元素と意味のある順序セットを発見</a:t>
            </a:r>
            <a:r>
              <a:rPr sz="1600" b="0">
                <a:solidFill>
                  <a:srgbClr val="E6EDF3"/>
                </a:solidFill>
                <a:latin typeface="Meiryo"/>
              </a:rPr>
              <a:t>したことで、はじめて、両界を跨る統合世界を人間が出現させることに成功したことである。</a:t>
            </a:r>
          </a:p>
        </p:txBody>
      </p:sp>
      <p:sp>
        <p:nvSpPr>
          <p:cNvPr id="8" name="TextBox 7"/>
          <p:cNvSpPr txBox="1"/>
          <p:nvPr/>
        </p:nvSpPr>
        <p:spPr>
          <a:xfrm>
            <a:off x="502920" y="3657600"/>
            <a:ext cx="10972800" cy="365760"/>
          </a:xfrm>
          <a:prstGeom prst="rect">
            <a:avLst/>
          </a:prstGeom>
          <a:noFill/>
        </p:spPr>
        <p:txBody>
          <a:bodyPr wrap="square" anchor="t" lIns="0" rIns="0" tIns="0" bIns="0">
            <a:spAutoFit/>
          </a:bodyPr>
          <a:lstStyle/>
          <a:p>
            <a:pPr algn="l">
              <a:lnSpc>
                <a:spcPct val="100000"/>
              </a:lnSpc>
            </a:pPr>
            <a:r>
              <a:rPr sz="1400" b="1">
                <a:solidFill>
                  <a:srgbClr val="FFFFFF"/>
                </a:solidFill>
                <a:latin typeface="Meiryo"/>
              </a:rPr>
              <a:t>「理」の一般系は、個別な理の汎化ではなく微細化</a:t>
            </a:r>
          </a:p>
        </p:txBody>
      </p:sp>
      <p:sp>
        <p:nvSpPr>
          <p:cNvPr id="9" name="TextBox 8"/>
          <p:cNvSpPr txBox="1"/>
          <p:nvPr/>
        </p:nvSpPr>
        <p:spPr>
          <a:xfrm>
            <a:off x="502920" y="4069080"/>
            <a:ext cx="10972800" cy="1280160"/>
          </a:xfrm>
          <a:prstGeom prst="rect">
            <a:avLst/>
          </a:prstGeom>
          <a:noFill/>
        </p:spPr>
        <p:txBody>
          <a:bodyPr wrap="square" anchor="t" lIns="0" rIns="0" tIns="0" bIns="0">
            <a:spAutoFit/>
          </a:bodyPr>
          <a:lstStyle/>
          <a:p>
            <a:pPr algn="l">
              <a:lnSpc>
                <a:spcPct val="120000"/>
              </a:lnSpc>
              <a:spcAft>
                <a:spcPts val="400"/>
              </a:spcAft>
            </a:pPr>
            <a:r>
              <a:rPr sz="1200" b="0">
                <a:solidFill>
                  <a:srgbClr val="8B949E"/>
                </a:solidFill>
                <a:latin typeface="Meiryo"/>
              </a:rPr>
              <a:t>「理」が個別だったから、従来の哲学は行き止まりだった。</a:t>
            </a:r>
          </a:p>
          <a:p>
            <a:pPr algn="l">
              <a:lnSpc>
                <a:spcPct val="120000"/>
              </a:lnSpc>
              <a:spcAft>
                <a:spcPts val="400"/>
              </a:spcAft>
            </a:pPr>
            <a:r>
              <a:rPr sz="1200" b="0">
                <a:solidFill>
                  <a:srgbClr val="8B949E"/>
                </a:solidFill>
                <a:latin typeface="Meiryo"/>
              </a:rPr>
              <a:t>「理」の構成元素と、理として働く順序が必要だった → それを 5 元素（トラスト元素）が担う。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2. 真界哲学の新規性</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三点を同時に構造化した</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TextBox 5"/>
          <p:cNvSpPr txBox="1"/>
          <p:nvPr/>
        </p:nvSpPr>
        <p:spPr>
          <a:xfrm>
            <a:off x="502920" y="1325880"/>
            <a:ext cx="10972800" cy="365760"/>
          </a:xfrm>
          <a:prstGeom prst="rect">
            <a:avLst/>
          </a:prstGeom>
          <a:noFill/>
        </p:spPr>
        <p:txBody>
          <a:bodyPr wrap="square" anchor="t" lIns="0" rIns="0" tIns="0" bIns="0">
            <a:spAutoFit/>
          </a:bodyPr>
          <a:lstStyle/>
          <a:p>
            <a:pPr algn="l">
              <a:lnSpc>
                <a:spcPct val="100000"/>
              </a:lnSpc>
            </a:pPr>
            <a:r>
              <a:rPr sz="1200" b="0">
                <a:solidFill>
                  <a:srgbClr val="8B949E"/>
                </a:solidFill>
                <a:latin typeface="Meiryo"/>
              </a:rPr>
              <a:t>従来の哲学は「認知は現実とは別もの」で止まる。その先（二界をどう一つにするか）が闇。</a:t>
            </a:r>
          </a:p>
        </p:txBody>
      </p:sp>
      <p:sp>
        <p:nvSpPr>
          <p:cNvPr id="7" name="Rounded Rectangle 6"/>
          <p:cNvSpPr/>
          <p:nvPr/>
        </p:nvSpPr>
        <p:spPr>
          <a:xfrm>
            <a:off x="502920" y="1828800"/>
            <a:ext cx="11201400" cy="1371600"/>
          </a:xfrm>
          <a:prstGeom prst="roundRect">
            <a:avLst>
              <a:gd name="adj" fmla="val 6000"/>
            </a:avLst>
          </a:prstGeom>
          <a:solidFill>
            <a:srgbClr val="161B22"/>
          </a:solidFill>
          <a:ln w="1524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965960"/>
            <a:ext cx="10698480" cy="365760"/>
          </a:xfrm>
          <a:prstGeom prst="rect">
            <a:avLst/>
          </a:prstGeom>
          <a:noFill/>
        </p:spPr>
        <p:txBody>
          <a:bodyPr wrap="square" anchor="t" lIns="0" rIns="0" tIns="0" bIns="0">
            <a:spAutoFit/>
          </a:bodyPr>
          <a:lstStyle/>
          <a:p>
            <a:pPr algn="l">
              <a:lnSpc>
                <a:spcPct val="100000"/>
              </a:lnSpc>
            </a:pPr>
            <a:r>
              <a:rPr sz="1400" b="1">
                <a:solidFill>
                  <a:srgbClr val="58A6FF"/>
                </a:solidFill>
                <a:latin typeface="Meiryo"/>
              </a:rPr>
              <a:t>① もたれかかりを、受動的能動の機構として構造化</a:t>
            </a:r>
          </a:p>
        </p:txBody>
      </p:sp>
      <p:sp>
        <p:nvSpPr>
          <p:cNvPr id="9" name="TextBox 8"/>
          <p:cNvSpPr txBox="1"/>
          <p:nvPr/>
        </p:nvSpPr>
        <p:spPr>
          <a:xfrm>
            <a:off x="777240" y="2359152"/>
            <a:ext cx="10698480" cy="777240"/>
          </a:xfrm>
          <a:prstGeom prst="rect">
            <a:avLst/>
          </a:prstGeom>
          <a:noFill/>
        </p:spPr>
        <p:txBody>
          <a:bodyPr wrap="square" anchor="t" lIns="0" rIns="0" tIns="0" bIns="0">
            <a:spAutoFit/>
          </a:bodyPr>
          <a:lstStyle/>
          <a:p>
            <a:pPr algn="l">
              <a:lnSpc>
                <a:spcPct val="110000"/>
              </a:lnSpc>
            </a:pPr>
            <a:r>
              <a:rPr sz="1150" b="0">
                <a:solidFill>
                  <a:srgbClr val="E6EDF3"/>
                </a:solidFill>
                <a:latin typeface="Meiryo"/>
              </a:rPr>
              <a:t>自動運動の素を、力でも意志でもなく「接触と傾き（もたれかかり）」として定式化。分解して定義しないことで、一息で読む現象論として保持。</a:t>
            </a:r>
          </a:p>
        </p:txBody>
      </p:sp>
      <p:sp>
        <p:nvSpPr>
          <p:cNvPr id="10" name="Rounded Rectangle 9"/>
          <p:cNvSpPr/>
          <p:nvPr/>
        </p:nvSpPr>
        <p:spPr>
          <a:xfrm>
            <a:off x="502920" y="3310128"/>
            <a:ext cx="11201400" cy="1371600"/>
          </a:xfrm>
          <a:prstGeom prst="roundRect">
            <a:avLst>
              <a:gd name="adj" fmla="val 6000"/>
            </a:avLst>
          </a:prstGeom>
          <a:solidFill>
            <a:srgbClr val="161B22"/>
          </a:solidFill>
          <a:ln w="1524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447288"/>
            <a:ext cx="10698480" cy="365760"/>
          </a:xfrm>
          <a:prstGeom prst="rect">
            <a:avLst/>
          </a:prstGeom>
          <a:noFill/>
        </p:spPr>
        <p:txBody>
          <a:bodyPr wrap="square" anchor="t" lIns="0" rIns="0" tIns="0" bIns="0">
            <a:spAutoFit/>
          </a:bodyPr>
          <a:lstStyle/>
          <a:p>
            <a:pPr algn="l">
              <a:lnSpc>
                <a:spcPct val="100000"/>
              </a:lnSpc>
            </a:pPr>
            <a:r>
              <a:rPr sz="1400" b="1">
                <a:solidFill>
                  <a:srgbClr val="3FB950"/>
                </a:solidFill>
                <a:latin typeface="Meiryo"/>
              </a:rPr>
              <a:t>② 5 元素を、汎用的な「理」の元素順序セットとして構造化</a:t>
            </a:r>
          </a:p>
        </p:txBody>
      </p:sp>
      <p:sp>
        <p:nvSpPr>
          <p:cNvPr id="12" name="TextBox 11"/>
          <p:cNvSpPr txBox="1"/>
          <p:nvPr/>
        </p:nvSpPr>
        <p:spPr>
          <a:xfrm>
            <a:off x="777240" y="3840480"/>
            <a:ext cx="10698480" cy="777240"/>
          </a:xfrm>
          <a:prstGeom prst="rect">
            <a:avLst/>
          </a:prstGeom>
          <a:noFill/>
        </p:spPr>
        <p:txBody>
          <a:bodyPr wrap="square" anchor="t" lIns="0" rIns="0" tIns="0" bIns="0">
            <a:spAutoFit/>
          </a:bodyPr>
          <a:lstStyle/>
          <a:p>
            <a:pPr algn="l">
              <a:lnSpc>
                <a:spcPct val="110000"/>
              </a:lnSpc>
            </a:pPr>
            <a:r>
              <a:rPr sz="1150" b="0">
                <a:solidFill>
                  <a:srgbClr val="E6EDF3"/>
                </a:solidFill>
                <a:latin typeface="Meiryo"/>
              </a:rPr>
              <a:t>認知→評価→決定→投射→作動の順列で、どのような「理」も構成できることを発見。「理＝ロゴス」に汎用をもたらした。</a:t>
            </a:r>
          </a:p>
        </p:txBody>
      </p:sp>
      <p:sp>
        <p:nvSpPr>
          <p:cNvPr id="13" name="Rounded Rectangle 12"/>
          <p:cNvSpPr/>
          <p:nvPr/>
        </p:nvSpPr>
        <p:spPr>
          <a:xfrm>
            <a:off x="502920" y="4791456"/>
            <a:ext cx="11201400" cy="1371600"/>
          </a:xfrm>
          <a:prstGeom prst="roundRect">
            <a:avLst>
              <a:gd name="adj" fmla="val 6000"/>
            </a:avLst>
          </a:prstGeom>
          <a:solidFill>
            <a:srgbClr val="161B22"/>
          </a:solidFill>
          <a:ln w="1524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928616"/>
            <a:ext cx="10698480" cy="365760"/>
          </a:xfrm>
          <a:prstGeom prst="rect">
            <a:avLst/>
          </a:prstGeom>
          <a:noFill/>
        </p:spPr>
        <p:txBody>
          <a:bodyPr wrap="square" anchor="t" lIns="0" rIns="0" tIns="0" bIns="0">
            <a:spAutoFit/>
          </a:bodyPr>
          <a:lstStyle/>
          <a:p>
            <a:pPr algn="l">
              <a:lnSpc>
                <a:spcPct val="100000"/>
              </a:lnSpc>
            </a:pPr>
            <a:r>
              <a:rPr sz="1400" b="1">
                <a:solidFill>
                  <a:srgbClr val="D29922"/>
                </a:solidFill>
                <a:latin typeface="Meiryo"/>
              </a:rPr>
              <a:t>③ 理と実働をブリッジし、送り込みを成功させた</a:t>
            </a:r>
          </a:p>
        </p:txBody>
      </p:sp>
      <p:sp>
        <p:nvSpPr>
          <p:cNvPr id="15" name="TextBox 14"/>
          <p:cNvSpPr txBox="1"/>
          <p:nvPr/>
        </p:nvSpPr>
        <p:spPr>
          <a:xfrm>
            <a:off x="777240" y="5321808"/>
            <a:ext cx="10698480" cy="777240"/>
          </a:xfrm>
          <a:prstGeom prst="rect">
            <a:avLst/>
          </a:prstGeom>
          <a:noFill/>
        </p:spPr>
        <p:txBody>
          <a:bodyPr wrap="square" anchor="t" lIns="0" rIns="0" tIns="0" bIns="0">
            <a:spAutoFit/>
          </a:bodyPr>
          <a:lstStyle/>
          <a:p>
            <a:pPr algn="l">
              <a:lnSpc>
                <a:spcPct val="110000"/>
              </a:lnSpc>
            </a:pPr>
            <a:r>
              <a:rPr sz="1150" b="0">
                <a:solidFill>
                  <a:srgbClr val="E6EDF3"/>
                </a:solidFill>
                <a:latin typeface="Meiryo"/>
              </a:rPr>
              <a:t>もたれかかりのエネルギーで理の橋（ロジックブリッジ）を出現。主張でなく実装（STN・発火ループ・帰還）として成立。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2. 真界哲学の新規性</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類似哲学との対比 — なぜ誰も完成していなかったか</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TextBox 5"/>
          <p:cNvSpPr txBox="1"/>
          <p:nvPr/>
        </p:nvSpPr>
        <p:spPr>
          <a:xfrm>
            <a:off x="594360" y="1371600"/>
            <a:ext cx="2560320" cy="320040"/>
          </a:xfrm>
          <a:prstGeom prst="rect">
            <a:avLst/>
          </a:prstGeom>
          <a:noFill/>
        </p:spPr>
        <p:txBody>
          <a:bodyPr wrap="square" anchor="t" lIns="0" rIns="0" tIns="0" bIns="0">
            <a:spAutoFit/>
          </a:bodyPr>
          <a:lstStyle/>
          <a:p>
            <a:pPr algn="l">
              <a:lnSpc>
                <a:spcPct val="100000"/>
              </a:lnSpc>
            </a:pPr>
            <a:r>
              <a:rPr sz="1200" b="1">
                <a:solidFill>
                  <a:srgbClr val="58A6FF"/>
                </a:solidFill>
                <a:latin typeface="Meiryo"/>
              </a:rPr>
              <a:t>哲学</a:t>
            </a:r>
          </a:p>
        </p:txBody>
      </p:sp>
      <p:sp>
        <p:nvSpPr>
          <p:cNvPr id="7" name="TextBox 6"/>
          <p:cNvSpPr txBox="1"/>
          <p:nvPr/>
        </p:nvSpPr>
        <p:spPr>
          <a:xfrm>
            <a:off x="3337560" y="1371600"/>
            <a:ext cx="3840480" cy="320040"/>
          </a:xfrm>
          <a:prstGeom prst="rect">
            <a:avLst/>
          </a:prstGeom>
          <a:noFill/>
        </p:spPr>
        <p:txBody>
          <a:bodyPr wrap="square" anchor="t" lIns="0" rIns="0" tIns="0" bIns="0">
            <a:spAutoFit/>
          </a:bodyPr>
          <a:lstStyle/>
          <a:p>
            <a:pPr algn="l">
              <a:lnSpc>
                <a:spcPct val="100000"/>
              </a:lnSpc>
            </a:pPr>
            <a:r>
              <a:rPr sz="1200" b="1">
                <a:solidFill>
                  <a:srgbClr val="58A6FF"/>
                </a:solidFill>
                <a:latin typeface="Meiryo"/>
              </a:rPr>
              <a:t>到達点</a:t>
            </a:r>
          </a:p>
        </p:txBody>
      </p:sp>
      <p:sp>
        <p:nvSpPr>
          <p:cNvPr id="8" name="TextBox 7"/>
          <p:cNvSpPr txBox="1"/>
          <p:nvPr/>
        </p:nvSpPr>
        <p:spPr>
          <a:xfrm>
            <a:off x="7360920" y="1371600"/>
            <a:ext cx="4251959" cy="320040"/>
          </a:xfrm>
          <a:prstGeom prst="rect">
            <a:avLst/>
          </a:prstGeom>
          <a:noFill/>
        </p:spPr>
        <p:txBody>
          <a:bodyPr wrap="square" anchor="t" lIns="0" rIns="0" tIns="0" bIns="0">
            <a:spAutoFit/>
          </a:bodyPr>
          <a:lstStyle/>
          <a:p>
            <a:pPr algn="l">
              <a:lnSpc>
                <a:spcPct val="100000"/>
              </a:lnSpc>
            </a:pPr>
            <a:r>
              <a:rPr sz="1200" b="1">
                <a:solidFill>
                  <a:srgbClr val="58A6FF"/>
                </a:solidFill>
                <a:latin typeface="Meiryo"/>
              </a:rPr>
              <a:t>欠けていたもの</a:t>
            </a:r>
          </a:p>
        </p:txBody>
      </p:sp>
      <p:sp>
        <p:nvSpPr>
          <p:cNvPr id="9" name="Rounded Rectangle 8"/>
          <p:cNvSpPr/>
          <p:nvPr/>
        </p:nvSpPr>
        <p:spPr>
          <a:xfrm>
            <a:off x="502920" y="1700784"/>
            <a:ext cx="11201400" cy="566928"/>
          </a:xfrm>
          <a:prstGeom prst="roundRect">
            <a:avLst>
              <a:gd name="adj" fmla="val 12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1755648"/>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ライプニッツ（最接近）</a:t>
            </a:r>
          </a:p>
        </p:txBody>
      </p:sp>
      <p:sp>
        <p:nvSpPr>
          <p:cNvPr id="11" name="TextBox 10"/>
          <p:cNvSpPr txBox="1"/>
          <p:nvPr/>
        </p:nvSpPr>
        <p:spPr>
          <a:xfrm>
            <a:off x="3337560" y="1755648"/>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モナド＋窓なし＋予定調和</a:t>
            </a:r>
          </a:p>
        </p:txBody>
      </p:sp>
      <p:sp>
        <p:nvSpPr>
          <p:cNvPr id="12" name="TextBox 11"/>
          <p:cNvSpPr txBox="1"/>
          <p:nvPr/>
        </p:nvSpPr>
        <p:spPr>
          <a:xfrm>
            <a:off x="7360920" y="1755648"/>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調和が神から静的に与えられる。自己生成(M0)とブリッジを欠く</a:t>
            </a:r>
          </a:p>
        </p:txBody>
      </p:sp>
      <p:sp>
        <p:nvSpPr>
          <p:cNvPr id="13" name="TextBox 12"/>
          <p:cNvSpPr txBox="1"/>
          <p:nvPr/>
        </p:nvSpPr>
        <p:spPr>
          <a:xfrm>
            <a:off x="594360" y="2359152"/>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スピノザ</a:t>
            </a:r>
          </a:p>
        </p:txBody>
      </p:sp>
      <p:sp>
        <p:nvSpPr>
          <p:cNvPr id="14" name="TextBox 13"/>
          <p:cNvSpPr txBox="1"/>
          <p:nvPr/>
        </p:nvSpPr>
        <p:spPr>
          <a:xfrm>
            <a:off x="3337560" y="2359152"/>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一実体・二属性・造物主なし</a:t>
            </a:r>
          </a:p>
        </p:txBody>
      </p:sp>
      <p:sp>
        <p:nvSpPr>
          <p:cNvPr id="15" name="TextBox 14"/>
          <p:cNvSpPr txBox="1"/>
          <p:nvPr/>
        </p:nvSpPr>
        <p:spPr>
          <a:xfrm>
            <a:off x="7360920" y="2359152"/>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二属性は一実体の二表現（全体論的）。還元＋ブリッジを欠く</a:t>
            </a:r>
          </a:p>
        </p:txBody>
      </p:sp>
      <p:sp>
        <p:nvSpPr>
          <p:cNvPr id="16" name="Rounded Rectangle 15"/>
          <p:cNvSpPr/>
          <p:nvPr/>
        </p:nvSpPr>
        <p:spPr>
          <a:xfrm>
            <a:off x="502920" y="2907792"/>
            <a:ext cx="11201400" cy="566928"/>
          </a:xfrm>
          <a:prstGeom prst="roundRect">
            <a:avLst>
              <a:gd name="adj" fmla="val 12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2962656"/>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無為（道家）</a:t>
            </a:r>
          </a:p>
        </p:txBody>
      </p:sp>
      <p:sp>
        <p:nvSpPr>
          <p:cNvPr id="18" name="TextBox 17"/>
          <p:cNvSpPr txBox="1"/>
          <p:nvPr/>
        </p:nvSpPr>
        <p:spPr>
          <a:xfrm>
            <a:off x="3337560" y="2962656"/>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受動的能動＝無為の精神</a:t>
            </a:r>
          </a:p>
        </p:txBody>
      </p:sp>
      <p:sp>
        <p:nvSpPr>
          <p:cNvPr id="19" name="TextBox 18"/>
          <p:cNvSpPr txBox="1"/>
          <p:nvPr/>
        </p:nvSpPr>
        <p:spPr>
          <a:xfrm>
            <a:off x="7360920" y="2962656"/>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重力の発生(M0)という能動な起源を欠く</a:t>
            </a:r>
          </a:p>
        </p:txBody>
      </p:sp>
      <p:sp>
        <p:nvSpPr>
          <p:cNvPr id="20" name="TextBox 19"/>
          <p:cNvSpPr txBox="1"/>
          <p:nvPr/>
        </p:nvSpPr>
        <p:spPr>
          <a:xfrm>
            <a:off x="594360" y="3566160"/>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ベルグソン</a:t>
            </a:r>
          </a:p>
        </p:txBody>
      </p:sp>
      <p:sp>
        <p:nvSpPr>
          <p:cNvPr id="21" name="TextBox 20"/>
          <p:cNvSpPr txBox="1"/>
          <p:nvPr/>
        </p:nvSpPr>
        <p:spPr>
          <a:xfrm>
            <a:off x="3337560" y="3566160"/>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運動が先・未来は予期できない</a:t>
            </a:r>
          </a:p>
        </p:txBody>
      </p:sp>
      <p:sp>
        <p:nvSpPr>
          <p:cNvPr id="22" name="TextBox 21"/>
          <p:cNvSpPr txBox="1"/>
          <p:nvPr/>
        </p:nvSpPr>
        <p:spPr>
          <a:xfrm>
            <a:off x="7360920" y="3566160"/>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元素構造（5元素）を欠く</a:t>
            </a:r>
          </a:p>
        </p:txBody>
      </p:sp>
      <p:sp>
        <p:nvSpPr>
          <p:cNvPr id="23" name="Rounded Rectangle 22"/>
          <p:cNvSpPr/>
          <p:nvPr/>
        </p:nvSpPr>
        <p:spPr>
          <a:xfrm>
            <a:off x="502920" y="4114800"/>
            <a:ext cx="11201400" cy="566928"/>
          </a:xfrm>
          <a:prstGeom prst="roundRect">
            <a:avLst>
              <a:gd name="adj" fmla="val 12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94360" y="4169664"/>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マチュラナ/バレラ</a:t>
            </a:r>
          </a:p>
        </p:txBody>
      </p:sp>
      <p:sp>
        <p:nvSpPr>
          <p:cNvPr id="25" name="TextBox 24"/>
          <p:cNvSpPr txBox="1"/>
          <p:nvPr/>
        </p:nvSpPr>
        <p:spPr>
          <a:xfrm>
            <a:off x="3337560" y="4169664"/>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認知＝生命・自己生成系</a:t>
            </a:r>
          </a:p>
        </p:txBody>
      </p:sp>
      <p:sp>
        <p:nvSpPr>
          <p:cNvPr id="26" name="TextBox 25"/>
          <p:cNvSpPr txBox="1"/>
          <p:nvPr/>
        </p:nvSpPr>
        <p:spPr>
          <a:xfrm>
            <a:off x="7360920" y="4169664"/>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「理＝帰結」の主張・方向性のあるジャンプを欠く</a:t>
            </a:r>
          </a:p>
        </p:txBody>
      </p:sp>
      <p:sp>
        <p:nvSpPr>
          <p:cNvPr id="27" name="TextBox 26"/>
          <p:cNvSpPr txBox="1"/>
          <p:nvPr/>
        </p:nvSpPr>
        <p:spPr>
          <a:xfrm>
            <a:off x="594360" y="4773168"/>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仏教（縁起）</a:t>
            </a:r>
          </a:p>
        </p:txBody>
      </p:sp>
      <p:sp>
        <p:nvSpPr>
          <p:cNvPr id="28" name="TextBox 27"/>
          <p:cNvSpPr txBox="1"/>
          <p:nvPr/>
        </p:nvSpPr>
        <p:spPr>
          <a:xfrm>
            <a:off x="3337560" y="4773168"/>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ドミノ鎖・永遠の循環</a:t>
            </a:r>
          </a:p>
        </p:txBody>
      </p:sp>
      <p:sp>
        <p:nvSpPr>
          <p:cNvPr id="29" name="TextBox 28"/>
          <p:cNvSpPr txBox="1"/>
          <p:nvPr/>
        </p:nvSpPr>
        <p:spPr>
          <a:xfrm>
            <a:off x="7360920" y="4773168"/>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解脱(涅槃)を求める。未来永劫のドミノを肯定しない</a:t>
            </a:r>
          </a:p>
        </p:txBody>
      </p:sp>
      <p:sp>
        <p:nvSpPr>
          <p:cNvPr id="30" name="Rounded Rectangle 29"/>
          <p:cNvSpPr/>
          <p:nvPr/>
        </p:nvSpPr>
        <p:spPr>
          <a:xfrm>
            <a:off x="502920" y="5321808"/>
            <a:ext cx="11201400" cy="566928"/>
          </a:xfrm>
          <a:prstGeom prst="roundRect">
            <a:avLst>
              <a:gd name="adj" fmla="val 12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94360" y="5376672"/>
            <a:ext cx="2560320" cy="457200"/>
          </a:xfrm>
          <a:prstGeom prst="rect">
            <a:avLst/>
          </a:prstGeom>
          <a:noFill/>
        </p:spPr>
        <p:txBody>
          <a:bodyPr wrap="square" anchor="ctr" lIns="0" rIns="0" tIns="0" bIns="0">
            <a:spAutoFit/>
          </a:bodyPr>
          <a:lstStyle/>
          <a:p>
            <a:pPr algn="l">
              <a:lnSpc>
                <a:spcPct val="100000"/>
              </a:lnSpc>
            </a:pPr>
            <a:r>
              <a:rPr sz="1100" b="1">
                <a:solidFill>
                  <a:srgbClr val="E6EDF3"/>
                </a:solidFill>
                <a:latin typeface="Meiryo"/>
              </a:rPr>
              <a:t>オートマトン</a:t>
            </a:r>
          </a:p>
        </p:txBody>
      </p:sp>
      <p:sp>
        <p:nvSpPr>
          <p:cNvPr id="32" name="TextBox 31"/>
          <p:cNvSpPr txBox="1"/>
          <p:nvPr/>
        </p:nvSpPr>
        <p:spPr>
          <a:xfrm>
            <a:off x="3337560" y="5376672"/>
            <a:ext cx="3840480"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形態上すでにオートマトン</a:t>
            </a:r>
          </a:p>
        </p:txBody>
      </p:sp>
      <p:sp>
        <p:nvSpPr>
          <p:cNvPr id="33" name="TextBox 32"/>
          <p:cNvSpPr txBox="1"/>
          <p:nvPr/>
        </p:nvSpPr>
        <p:spPr>
          <a:xfrm>
            <a:off x="7360920" y="5376672"/>
            <a:ext cx="4251959" cy="457200"/>
          </a:xfrm>
          <a:prstGeom prst="rect">
            <a:avLst/>
          </a:prstGeom>
          <a:noFill/>
        </p:spPr>
        <p:txBody>
          <a:bodyPr wrap="square" anchor="ctr" lIns="0" rIns="0" tIns="0" bIns="0">
            <a:spAutoFit/>
          </a:bodyPr>
          <a:lstStyle/>
          <a:p>
            <a:pPr algn="l">
              <a:lnSpc>
                <a:spcPct val="100000"/>
              </a:lnSpc>
            </a:pPr>
            <a:r>
              <a:rPr sz="1050" b="0">
                <a:solidFill>
                  <a:srgbClr val="8B949E"/>
                </a:solidFill>
                <a:latin typeface="Meiryo"/>
              </a:rPr>
              <a:t>接地・ブリッジ・生命を欠く。停止を研究する</a:t>
            </a:r>
          </a:p>
        </p:txBody>
      </p:sp>
      <p:sp>
        <p:nvSpPr>
          <p:cNvPr id="34" name="TextBox 33"/>
          <p:cNvSpPr txBox="1"/>
          <p:nvPr/>
        </p:nvSpPr>
        <p:spPr>
          <a:xfrm>
            <a:off x="502920" y="6025896"/>
            <a:ext cx="11155680" cy="457200"/>
          </a:xfrm>
          <a:prstGeom prst="rect">
            <a:avLst/>
          </a:prstGeom>
          <a:noFill/>
        </p:spPr>
        <p:txBody>
          <a:bodyPr wrap="square" anchor="t" lIns="0" rIns="0" tIns="0" bIns="0">
            <a:spAutoFit/>
          </a:bodyPr>
          <a:lstStyle/>
          <a:p>
            <a:pPr algn="l">
              <a:lnSpc>
                <a:spcPct val="100000"/>
              </a:lnSpc>
            </a:pPr>
            <a:r>
              <a:rPr sz="1200" b="0">
                <a:solidFill>
                  <a:srgbClr val="8B949E"/>
                </a:solidFill>
                <a:latin typeface="Meiryo"/>
              </a:rPr>
              <a:t>自動運動を思いついた者はいた。しかし①②③を</a:t>
            </a:r>
            <a:r>
              <a:rPr sz="1200" b="1">
                <a:solidFill>
                  <a:srgbClr val="D29922"/>
                </a:solidFill>
                <a:latin typeface="Meiryo"/>
              </a:rPr>
              <a:t>同時に構造化</a:t>
            </a:r>
            <a:r>
              <a:rPr sz="1200" b="0">
                <a:solidFill>
                  <a:srgbClr val="8B949E"/>
                </a:solidFill>
                <a:latin typeface="Meiryo"/>
              </a:rPr>
              <a:t>した者は、これまでいなかった。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3. 真界哲学の意味・意義</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三つの次元</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Rounded Rectangle 5"/>
          <p:cNvSpPr/>
          <p:nvPr/>
        </p:nvSpPr>
        <p:spPr>
          <a:xfrm>
            <a:off x="502920" y="1417320"/>
            <a:ext cx="11201400" cy="1481328"/>
          </a:xfrm>
          <a:prstGeom prst="roundRect">
            <a:avLst>
              <a:gd name="adj" fmla="val 6000"/>
            </a:avLst>
          </a:prstGeom>
          <a:solidFill>
            <a:srgbClr val="161B22"/>
          </a:solidFill>
          <a:ln w="1524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545336"/>
            <a:ext cx="3840480" cy="365760"/>
          </a:xfrm>
          <a:prstGeom prst="rect">
            <a:avLst/>
          </a:prstGeom>
          <a:noFill/>
        </p:spPr>
        <p:txBody>
          <a:bodyPr wrap="square" anchor="t" lIns="0" rIns="0" tIns="0" bIns="0">
            <a:spAutoFit/>
          </a:bodyPr>
          <a:lstStyle/>
          <a:p>
            <a:pPr algn="l">
              <a:lnSpc>
                <a:spcPct val="100000"/>
              </a:lnSpc>
            </a:pPr>
            <a:r>
              <a:rPr sz="1400" b="1">
                <a:solidFill>
                  <a:srgbClr val="58A6FF"/>
                </a:solidFill>
                <a:latin typeface="Meiryo"/>
              </a:rPr>
              <a:t>哲学への意味</a:t>
            </a:r>
          </a:p>
        </p:txBody>
      </p:sp>
      <p:sp>
        <p:nvSpPr>
          <p:cNvPr id="8" name="TextBox 7"/>
          <p:cNvSpPr txBox="1"/>
          <p:nvPr/>
        </p:nvSpPr>
        <p:spPr>
          <a:xfrm>
            <a:off x="777240" y="1920240"/>
            <a:ext cx="3840480" cy="822960"/>
          </a:xfrm>
          <a:prstGeom prst="rect">
            <a:avLst/>
          </a:prstGeom>
          <a:noFill/>
        </p:spPr>
        <p:txBody>
          <a:bodyPr wrap="square" anchor="t" lIns="0" rIns="0" tIns="0" bIns="0">
            <a:spAutoFit/>
          </a:bodyPr>
          <a:lstStyle/>
          <a:p>
            <a:pPr algn="l">
              <a:lnSpc>
                <a:spcPct val="105000"/>
              </a:lnSpc>
            </a:pPr>
            <a:r>
              <a:rPr sz="1200" b="1">
                <a:solidFill>
                  <a:srgbClr val="E6EDF3"/>
                </a:solidFill>
                <a:latin typeface="Meiryo"/>
              </a:rPr>
              <a:t>あらゆる哲学が動き出す</a:t>
            </a:r>
          </a:p>
        </p:txBody>
      </p:sp>
      <p:sp>
        <p:nvSpPr>
          <p:cNvPr id="9" name="TextBox 8"/>
          <p:cNvSpPr txBox="1"/>
          <p:nvPr/>
        </p:nvSpPr>
        <p:spPr>
          <a:xfrm>
            <a:off x="4754880" y="1563624"/>
            <a:ext cx="6720840" cy="1188720"/>
          </a:xfrm>
          <a:prstGeom prst="rect">
            <a:avLst/>
          </a:prstGeom>
          <a:noFill/>
        </p:spPr>
        <p:txBody>
          <a:bodyPr wrap="square" anchor="ctr" lIns="0" rIns="0" tIns="0" bIns="0">
            <a:spAutoFit/>
          </a:bodyPr>
          <a:lstStyle/>
          <a:p>
            <a:pPr algn="l">
              <a:lnSpc>
                <a:spcPct val="112000"/>
              </a:lnSpc>
            </a:pPr>
            <a:r>
              <a:rPr sz="1100" b="0">
                <a:solidFill>
                  <a:srgbClr val="8B949E"/>
                </a:solidFill>
                <a:latin typeface="Meiryo"/>
              </a:rPr>
              <a:t>「理」に汎用をもたせ理の橋を出現させたことで、ホワイトヘッドの「出来事のネット」がはじめて哲学的に定義可能に。「記号界物理界…」とつながる真界を、はじめて人間が・生命がとらえた。</a:t>
            </a:r>
          </a:p>
        </p:txBody>
      </p:sp>
      <p:sp>
        <p:nvSpPr>
          <p:cNvPr id="10" name="Rounded Rectangle 9"/>
          <p:cNvSpPr/>
          <p:nvPr/>
        </p:nvSpPr>
        <p:spPr>
          <a:xfrm>
            <a:off x="502920" y="3008376"/>
            <a:ext cx="11201400" cy="1481328"/>
          </a:xfrm>
          <a:prstGeom prst="roundRect">
            <a:avLst>
              <a:gd name="adj" fmla="val 6000"/>
            </a:avLst>
          </a:prstGeom>
          <a:solidFill>
            <a:srgbClr val="161B22"/>
          </a:solidFill>
          <a:ln w="1524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136392"/>
            <a:ext cx="3840480" cy="365760"/>
          </a:xfrm>
          <a:prstGeom prst="rect">
            <a:avLst/>
          </a:prstGeom>
          <a:noFill/>
        </p:spPr>
        <p:txBody>
          <a:bodyPr wrap="square" anchor="t" lIns="0" rIns="0" tIns="0" bIns="0">
            <a:spAutoFit/>
          </a:bodyPr>
          <a:lstStyle/>
          <a:p>
            <a:pPr algn="l">
              <a:lnSpc>
                <a:spcPct val="100000"/>
              </a:lnSpc>
            </a:pPr>
            <a:r>
              <a:rPr sz="1400" b="1">
                <a:solidFill>
                  <a:srgbClr val="3FB950"/>
                </a:solidFill>
                <a:latin typeface="Meiryo"/>
              </a:rPr>
              <a:t>人間・生命への意味</a:t>
            </a:r>
          </a:p>
        </p:txBody>
      </p:sp>
      <p:sp>
        <p:nvSpPr>
          <p:cNvPr id="12" name="TextBox 11"/>
          <p:cNvSpPr txBox="1"/>
          <p:nvPr/>
        </p:nvSpPr>
        <p:spPr>
          <a:xfrm>
            <a:off x="777240" y="3511296"/>
            <a:ext cx="3840480" cy="822960"/>
          </a:xfrm>
          <a:prstGeom prst="rect">
            <a:avLst/>
          </a:prstGeom>
          <a:noFill/>
        </p:spPr>
        <p:txBody>
          <a:bodyPr wrap="square" anchor="t" lIns="0" rIns="0" tIns="0" bIns="0">
            <a:spAutoFit/>
          </a:bodyPr>
          <a:lstStyle/>
          <a:p>
            <a:pPr algn="l">
              <a:lnSpc>
                <a:spcPct val="105000"/>
              </a:lnSpc>
            </a:pPr>
            <a:r>
              <a:rPr sz="1200" b="1">
                <a:solidFill>
                  <a:srgbClr val="E6EDF3"/>
                </a:solidFill>
                <a:latin typeface="Meiryo"/>
              </a:rPr>
              <a:t>生命の現象論</a:t>
            </a:r>
          </a:p>
        </p:txBody>
      </p:sp>
      <p:sp>
        <p:nvSpPr>
          <p:cNvPr id="13" name="TextBox 12"/>
          <p:cNvSpPr txBox="1"/>
          <p:nvPr/>
        </p:nvSpPr>
        <p:spPr>
          <a:xfrm>
            <a:off x="4754880" y="3154680"/>
            <a:ext cx="6720840" cy="1188720"/>
          </a:xfrm>
          <a:prstGeom prst="rect">
            <a:avLst/>
          </a:prstGeom>
          <a:noFill/>
        </p:spPr>
        <p:txBody>
          <a:bodyPr wrap="square" anchor="ctr" lIns="0" rIns="0" tIns="0" bIns="0">
            <a:spAutoFit/>
          </a:bodyPr>
          <a:lstStyle/>
          <a:p>
            <a:pPr algn="l">
              <a:lnSpc>
                <a:spcPct val="112000"/>
              </a:lnSpc>
            </a:pPr>
            <a:r>
              <a:rPr sz="1100" b="0">
                <a:solidFill>
                  <a:srgbClr val="8B949E"/>
                </a:solidFill>
                <a:latin typeface="Meiryo"/>
              </a:rPr>
              <a:t>交わらない二界をトラストで渡し、未来永劫のドミノとして自己持続する系＝生命。「真」は与えられたものではなく、閉じた結合（相互開き）の帰結。</a:t>
            </a:r>
          </a:p>
        </p:txBody>
      </p:sp>
      <p:sp>
        <p:nvSpPr>
          <p:cNvPr id="14" name="Rounded Rectangle 13"/>
          <p:cNvSpPr/>
          <p:nvPr/>
        </p:nvSpPr>
        <p:spPr>
          <a:xfrm>
            <a:off x="502920" y="4599432"/>
            <a:ext cx="11201400" cy="1481328"/>
          </a:xfrm>
          <a:prstGeom prst="roundRect">
            <a:avLst>
              <a:gd name="adj" fmla="val 6000"/>
            </a:avLst>
          </a:prstGeom>
          <a:solidFill>
            <a:srgbClr val="161B22"/>
          </a:solidFill>
          <a:ln w="1524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727448"/>
            <a:ext cx="3840480" cy="365760"/>
          </a:xfrm>
          <a:prstGeom prst="rect">
            <a:avLst/>
          </a:prstGeom>
          <a:noFill/>
        </p:spPr>
        <p:txBody>
          <a:bodyPr wrap="square" anchor="t" lIns="0" rIns="0" tIns="0" bIns="0">
            <a:spAutoFit/>
          </a:bodyPr>
          <a:lstStyle/>
          <a:p>
            <a:pPr algn="l">
              <a:lnSpc>
                <a:spcPct val="100000"/>
              </a:lnSpc>
            </a:pPr>
            <a:r>
              <a:rPr sz="1400" b="1">
                <a:solidFill>
                  <a:srgbClr val="D29922"/>
                </a:solidFill>
                <a:latin typeface="Meiryo"/>
              </a:rPr>
              <a:t>工学・実装への意味</a:t>
            </a:r>
          </a:p>
        </p:txBody>
      </p:sp>
      <p:sp>
        <p:nvSpPr>
          <p:cNvPr id="16" name="TextBox 15"/>
          <p:cNvSpPr txBox="1"/>
          <p:nvPr/>
        </p:nvSpPr>
        <p:spPr>
          <a:xfrm>
            <a:off x="777240" y="5102352"/>
            <a:ext cx="3840480" cy="822960"/>
          </a:xfrm>
          <a:prstGeom prst="rect">
            <a:avLst/>
          </a:prstGeom>
          <a:noFill/>
        </p:spPr>
        <p:txBody>
          <a:bodyPr wrap="square" anchor="t" lIns="0" rIns="0" tIns="0" bIns="0">
            <a:spAutoFit/>
          </a:bodyPr>
          <a:lstStyle/>
          <a:p>
            <a:pPr algn="l">
              <a:lnSpc>
                <a:spcPct val="105000"/>
              </a:lnSpc>
            </a:pPr>
            <a:r>
              <a:rPr sz="1200" b="1">
                <a:solidFill>
                  <a:srgbClr val="E6EDF3"/>
                </a:solidFill>
                <a:latin typeface="Meiryo"/>
              </a:rPr>
              <a:t>意思決定の機械化</a:t>
            </a:r>
          </a:p>
        </p:txBody>
      </p:sp>
      <p:sp>
        <p:nvSpPr>
          <p:cNvPr id="17" name="TextBox 16"/>
          <p:cNvSpPr txBox="1"/>
          <p:nvPr/>
        </p:nvSpPr>
        <p:spPr>
          <a:xfrm>
            <a:off x="4754880" y="4745736"/>
            <a:ext cx="6720840" cy="1188720"/>
          </a:xfrm>
          <a:prstGeom prst="rect">
            <a:avLst/>
          </a:prstGeom>
          <a:noFill/>
        </p:spPr>
        <p:txBody>
          <a:bodyPr wrap="square" anchor="ctr" lIns="0" rIns="0" tIns="0" bIns="0">
            <a:spAutoFit/>
          </a:bodyPr>
          <a:lstStyle/>
          <a:p>
            <a:pPr algn="l">
              <a:lnSpc>
                <a:spcPct val="112000"/>
              </a:lnSpc>
            </a:pPr>
            <a:r>
              <a:rPr sz="1100" b="0">
                <a:solidFill>
                  <a:srgbClr val="8B949E"/>
                </a:solidFill>
                <a:latin typeface="Meiryo"/>
              </a:rPr>
              <a:t>STN=5元素の構造、発火ループ=自動発火、帰還=未来永劫のドミノ、M0=最初の押し。確率→決定が5元素で原子化され、意思決定が汎用化・自動化される。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3. 真界哲学の意味・意義</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実現の力学 — 境界の力学</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Rounded Rectangle 5"/>
          <p:cNvSpPr/>
          <p:nvPr/>
        </p:nvSpPr>
        <p:spPr>
          <a:xfrm>
            <a:off x="502920" y="1325880"/>
            <a:ext cx="11201400" cy="1417320"/>
          </a:xfrm>
          <a:prstGeom prst="roundRect">
            <a:avLst>
              <a:gd name="adj" fmla="val 6000"/>
            </a:avLst>
          </a:prstGeom>
          <a:solidFill>
            <a:srgbClr val="21262D"/>
          </a:solidFill>
          <a:ln w="1905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463040"/>
            <a:ext cx="10698480" cy="1143000"/>
          </a:xfrm>
          <a:prstGeom prst="rect">
            <a:avLst/>
          </a:prstGeom>
          <a:noFill/>
        </p:spPr>
        <p:txBody>
          <a:bodyPr wrap="square" anchor="ctr" lIns="0" rIns="0" tIns="0" bIns="0">
            <a:spAutoFit/>
          </a:bodyPr>
          <a:lstStyle/>
          <a:p>
            <a:pPr algn="l">
              <a:lnSpc>
                <a:spcPct val="120000"/>
              </a:lnSpc>
            </a:pPr>
            <a:r>
              <a:rPr sz="1300" b="0">
                <a:solidFill>
                  <a:srgbClr val="E6EDF3"/>
                </a:solidFill>
                <a:latin typeface="Meiryo"/>
              </a:rPr>
              <a:t>真界哲学を実世界での実現を促すのは、</a:t>
            </a:r>
            <a:r>
              <a:rPr sz="1300" b="1">
                <a:solidFill>
                  <a:srgbClr val="D29922"/>
                </a:solidFill>
                <a:latin typeface="Meiryo"/>
              </a:rPr>
              <a:t>物理界のあらゆる人モノコトをオブジェクトして記号化</a:t>
            </a:r>
            <a:r>
              <a:rPr sz="1300" b="0">
                <a:solidFill>
                  <a:srgbClr val="E6EDF3"/>
                </a:solidFill>
                <a:latin typeface="Meiryo"/>
              </a:rPr>
              <a:t>し、</a:t>
            </a:r>
            <a:r>
              <a:rPr sz="1300" b="1">
                <a:solidFill>
                  <a:srgbClr val="D29922"/>
                </a:solidFill>
                <a:latin typeface="Meiryo"/>
              </a:rPr>
              <a:t>あらゆるものをネットにつなぐこと</a:t>
            </a:r>
            <a:r>
              <a:rPr sz="1300" b="0">
                <a:solidFill>
                  <a:srgbClr val="E6EDF3"/>
                </a:solidFill>
                <a:latin typeface="Meiryo"/>
              </a:rPr>
              <a:t>。逆に、</a:t>
            </a:r>
            <a:r>
              <a:rPr sz="1300" b="1">
                <a:solidFill>
                  <a:srgbClr val="D29922"/>
                </a:solidFill>
                <a:latin typeface="Meiryo"/>
              </a:rPr>
              <a:t>記号界に登録しない・ネットにつなげない・オフネット</a:t>
            </a:r>
            <a:r>
              <a:rPr sz="1300" b="0">
                <a:solidFill>
                  <a:srgbClr val="E6EDF3"/>
                </a:solidFill>
                <a:latin typeface="Meiryo"/>
              </a:rPr>
              <a:t>することで、実現を遅らせることができる。</a:t>
            </a:r>
          </a:p>
        </p:txBody>
      </p:sp>
      <p:sp>
        <p:nvSpPr>
          <p:cNvPr id="8" name="TextBox 7"/>
          <p:cNvSpPr txBox="1"/>
          <p:nvPr/>
        </p:nvSpPr>
        <p:spPr>
          <a:xfrm>
            <a:off x="502920" y="2926080"/>
            <a:ext cx="11155680" cy="365760"/>
          </a:xfrm>
          <a:prstGeom prst="rect">
            <a:avLst/>
          </a:prstGeom>
          <a:noFill/>
        </p:spPr>
        <p:txBody>
          <a:bodyPr wrap="square" anchor="t" lIns="0" rIns="0" tIns="0" bIns="0">
            <a:spAutoFit/>
          </a:bodyPr>
          <a:lstStyle/>
          <a:p>
            <a:pPr algn="l">
              <a:lnSpc>
                <a:spcPct val="100000"/>
              </a:lnSpc>
            </a:pPr>
            <a:r>
              <a:rPr sz="1400" b="1">
                <a:solidFill>
                  <a:srgbClr val="FFFFFF"/>
                </a:solidFill>
                <a:latin typeface="Meiryo"/>
              </a:rPr>
              <a:t>実現の境界 ＝ </a:t>
            </a:r>
            <a:r>
              <a:rPr sz="1400" b="1">
                <a:solidFill>
                  <a:srgbClr val="58A6FF"/>
                </a:solidFill>
                <a:latin typeface="Meiryo"/>
              </a:rPr>
              <a:t>記号化され、かつネットに接続された対象の集合</a:t>
            </a:r>
          </a:p>
        </p:txBody>
      </p:sp>
      <p:sp>
        <p:nvSpPr>
          <p:cNvPr id="9" name="Rounded Rectangle 8"/>
          <p:cNvSpPr/>
          <p:nvPr/>
        </p:nvSpPr>
        <p:spPr>
          <a:xfrm>
            <a:off x="502920" y="3383280"/>
            <a:ext cx="5486400" cy="1554480"/>
          </a:xfrm>
          <a:prstGeom prst="roundRect">
            <a:avLst>
              <a:gd name="adj" fmla="val 6000"/>
            </a:avLst>
          </a:prstGeom>
          <a:solidFill>
            <a:srgbClr val="161B22"/>
          </a:solidFill>
          <a:ln w="1524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520440"/>
            <a:ext cx="5029200" cy="365760"/>
          </a:xfrm>
          <a:prstGeom prst="rect">
            <a:avLst/>
          </a:prstGeom>
          <a:noFill/>
        </p:spPr>
        <p:txBody>
          <a:bodyPr wrap="square" anchor="t" lIns="0" rIns="0" tIns="0" bIns="0">
            <a:spAutoFit/>
          </a:bodyPr>
          <a:lstStyle/>
          <a:p>
            <a:pPr algn="l">
              <a:lnSpc>
                <a:spcPct val="100000"/>
              </a:lnSpc>
            </a:pPr>
            <a:r>
              <a:rPr sz="1400" b="1">
                <a:solidFill>
                  <a:srgbClr val="3FB950"/>
                </a:solidFill>
                <a:latin typeface="Meiryo"/>
              </a:rPr>
              <a:t>促す（拡張）</a:t>
            </a:r>
          </a:p>
        </p:txBody>
      </p:sp>
      <p:sp>
        <p:nvSpPr>
          <p:cNvPr id="11" name="TextBox 10"/>
          <p:cNvSpPr txBox="1"/>
          <p:nvPr/>
        </p:nvSpPr>
        <p:spPr>
          <a:xfrm>
            <a:off x="731520" y="3913632"/>
            <a:ext cx="5029200" cy="914400"/>
          </a:xfrm>
          <a:prstGeom prst="rect">
            <a:avLst/>
          </a:prstGeom>
          <a:noFill/>
        </p:spPr>
        <p:txBody>
          <a:bodyPr wrap="square" anchor="t" lIns="0" rIns="0" tIns="0" bIns="0">
            <a:spAutoFit/>
          </a:bodyPr>
          <a:lstStyle/>
          <a:p>
            <a:pPr algn="l">
              <a:lnSpc>
                <a:spcPct val="115000"/>
              </a:lnSpc>
              <a:spcAft>
                <a:spcPts val="400"/>
              </a:spcAft>
            </a:pPr>
            <a:r>
              <a:rPr sz="1100" b="0">
                <a:solidFill>
                  <a:srgbClr val="E6EDF3"/>
                </a:solidFill>
                <a:latin typeface="Meiryo"/>
              </a:rPr>
              <a:t>・ 人・物・事をオブジェクトして記号化</a:t>
            </a:r>
          </a:p>
          <a:p>
            <a:pPr algn="l">
              <a:lnSpc>
                <a:spcPct val="115000"/>
              </a:lnSpc>
              <a:spcAft>
                <a:spcPts val="400"/>
              </a:spcAft>
            </a:pPr>
            <a:r>
              <a:rPr sz="1100" b="0">
                <a:solidFill>
                  <a:srgbClr val="E6EDF3"/>
                </a:solidFill>
                <a:latin typeface="Meiryo"/>
              </a:rPr>
              <a:t>・ あらゆるものをネットにつなぐ</a:t>
            </a:r>
          </a:p>
        </p:txBody>
      </p:sp>
      <p:sp>
        <p:nvSpPr>
          <p:cNvPr id="12" name="Rounded Rectangle 11"/>
          <p:cNvSpPr/>
          <p:nvPr/>
        </p:nvSpPr>
        <p:spPr>
          <a:xfrm>
            <a:off x="6217920" y="3383280"/>
            <a:ext cx="5486400" cy="1554480"/>
          </a:xfrm>
          <a:prstGeom prst="roundRect">
            <a:avLst>
              <a:gd name="adj" fmla="val 6000"/>
            </a:avLst>
          </a:prstGeom>
          <a:solidFill>
            <a:srgbClr val="161B22"/>
          </a:solidFill>
          <a:ln w="1524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3520440"/>
            <a:ext cx="5029200" cy="365760"/>
          </a:xfrm>
          <a:prstGeom prst="rect">
            <a:avLst/>
          </a:prstGeom>
          <a:noFill/>
        </p:spPr>
        <p:txBody>
          <a:bodyPr wrap="square" anchor="t" lIns="0" rIns="0" tIns="0" bIns="0">
            <a:spAutoFit/>
          </a:bodyPr>
          <a:lstStyle/>
          <a:p>
            <a:pPr algn="l">
              <a:lnSpc>
                <a:spcPct val="100000"/>
              </a:lnSpc>
            </a:pPr>
            <a:r>
              <a:rPr sz="1400" b="1">
                <a:solidFill>
                  <a:srgbClr val="58A6FF"/>
                </a:solidFill>
                <a:latin typeface="Meiryo"/>
              </a:rPr>
              <a:t>遅らせる（収縮）</a:t>
            </a:r>
          </a:p>
        </p:txBody>
      </p:sp>
      <p:sp>
        <p:nvSpPr>
          <p:cNvPr id="14" name="TextBox 13"/>
          <p:cNvSpPr txBox="1"/>
          <p:nvPr/>
        </p:nvSpPr>
        <p:spPr>
          <a:xfrm>
            <a:off x="6446520" y="3913632"/>
            <a:ext cx="5029200" cy="914400"/>
          </a:xfrm>
          <a:prstGeom prst="rect">
            <a:avLst/>
          </a:prstGeom>
          <a:noFill/>
        </p:spPr>
        <p:txBody>
          <a:bodyPr wrap="square" anchor="t" lIns="0" rIns="0" tIns="0" bIns="0">
            <a:spAutoFit/>
          </a:bodyPr>
          <a:lstStyle/>
          <a:p>
            <a:pPr algn="l">
              <a:lnSpc>
                <a:spcPct val="115000"/>
              </a:lnSpc>
              <a:spcAft>
                <a:spcPts val="400"/>
              </a:spcAft>
            </a:pPr>
            <a:r>
              <a:rPr sz="1100" b="0">
                <a:solidFill>
                  <a:srgbClr val="E6EDF3"/>
                </a:solidFill>
                <a:latin typeface="Meiryo"/>
              </a:rPr>
              <a:t>・ 記号界に登録しない</a:t>
            </a:r>
          </a:p>
          <a:p>
            <a:pPr algn="l">
              <a:lnSpc>
                <a:spcPct val="115000"/>
              </a:lnSpc>
              <a:spcAft>
                <a:spcPts val="400"/>
              </a:spcAft>
            </a:pPr>
            <a:r>
              <a:rPr sz="1100" b="0">
                <a:solidFill>
                  <a:srgbClr val="E6EDF3"/>
                </a:solidFill>
                <a:latin typeface="Meiryo"/>
              </a:rPr>
              <a:t>・ ネットにつなげない（省略）／オフネット（撤回）</a:t>
            </a:r>
          </a:p>
        </p:txBody>
      </p:sp>
      <p:sp>
        <p:nvSpPr>
          <p:cNvPr id="15" name="TextBox 14"/>
          <p:cNvSpPr txBox="1"/>
          <p:nvPr/>
        </p:nvSpPr>
        <p:spPr>
          <a:xfrm>
            <a:off x="502920" y="5074920"/>
            <a:ext cx="11155680" cy="1280160"/>
          </a:xfrm>
          <a:prstGeom prst="rect">
            <a:avLst/>
          </a:prstGeom>
          <a:noFill/>
        </p:spPr>
        <p:txBody>
          <a:bodyPr wrap="square" anchor="t" lIns="0" rIns="0" tIns="0" bIns="0">
            <a:spAutoFit/>
          </a:bodyPr>
          <a:lstStyle/>
          <a:p>
            <a:pPr algn="l">
              <a:lnSpc>
                <a:spcPct val="118000"/>
              </a:lnSpc>
              <a:spcAft>
                <a:spcPts val="500"/>
              </a:spcAft>
            </a:pPr>
            <a:r>
              <a:rPr sz="1100" b="0">
                <a:solidFill>
                  <a:srgbClr val="8B949E"/>
                </a:solidFill>
                <a:latin typeface="Meiryo"/>
              </a:rPr>
              <a:t>▪ 膜（IF）＝境界の開閉。記号化＋接続＝開く、オフネット＝閉じる。境界は単調でなく加算も減算もでき、実現は可逆・動的。</a:t>
            </a:r>
          </a:p>
          <a:p>
            <a:pPr algn="l">
              <a:lnSpc>
                <a:spcPct val="118000"/>
              </a:lnSpc>
              <a:spcAft>
                <a:spcPts val="500"/>
              </a:spcAft>
            </a:pPr>
            <a:r>
              <a:rPr sz="1100" b="0">
                <a:solidFill>
                  <a:srgbClr val="8B949E"/>
                </a:solidFill>
                <a:latin typeface="Meiryo"/>
              </a:rPr>
              <a:t>▪ M0／重力の発生の連続版。最初の押しが系を動かし、その後も記号化・接続という「押し」で系が拡大。実現は継続的な接地の行為。</a:t>
            </a:r>
          </a:p>
          <a:p>
            <a:pPr algn="l">
              <a:lnSpc>
                <a:spcPct val="118000"/>
              </a:lnSpc>
              <a:spcAft>
                <a:spcPts val="500"/>
              </a:spcAft>
            </a:pPr>
            <a:r>
              <a:rPr sz="1100" b="0">
                <a:solidFill>
                  <a:srgbClr val="8B949E"/>
                </a:solidFill>
                <a:latin typeface="Meiryo"/>
              </a:rPr>
              <a:t>▪ HUMOS の工学的推進力。entity を増やして接地し STN に接続するたびに実現が進む。STB 自体が、いちご栽培の人・物・事を記号化・接続して真界を実現する行為。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02920" y="457200"/>
            <a:ext cx="82296" cy="566928"/>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02336"/>
            <a:ext cx="10515600" cy="320040"/>
          </a:xfrm>
          <a:prstGeom prst="rect">
            <a:avLst/>
          </a:prstGeom>
          <a:noFill/>
        </p:spPr>
        <p:txBody>
          <a:bodyPr wrap="square" anchor="t" lIns="0" rIns="0" tIns="0" bIns="0">
            <a:spAutoFit/>
          </a:bodyPr>
          <a:lstStyle/>
          <a:p>
            <a:pPr algn="l">
              <a:lnSpc>
                <a:spcPct val="100000"/>
              </a:lnSpc>
            </a:pPr>
            <a:r>
              <a:rPr sz="1200" b="1">
                <a:solidFill>
                  <a:srgbClr val="8B949E"/>
                </a:solidFill>
                <a:latin typeface="Meiryo"/>
              </a:rPr>
              <a:t>3. 真界哲学の意味・意義</a:t>
            </a:r>
          </a:p>
        </p:txBody>
      </p:sp>
      <p:sp>
        <p:nvSpPr>
          <p:cNvPr id="4" name="TextBox 3"/>
          <p:cNvSpPr txBox="1"/>
          <p:nvPr/>
        </p:nvSpPr>
        <p:spPr>
          <a:xfrm>
            <a:off x="713232" y="603504"/>
            <a:ext cx="10881360" cy="548640"/>
          </a:xfrm>
          <a:prstGeom prst="rect">
            <a:avLst/>
          </a:prstGeom>
          <a:noFill/>
        </p:spPr>
        <p:txBody>
          <a:bodyPr wrap="square" anchor="t" lIns="0" rIns="0" tIns="0" bIns="0">
            <a:spAutoFit/>
          </a:bodyPr>
          <a:lstStyle/>
          <a:p>
            <a:pPr algn="l">
              <a:lnSpc>
                <a:spcPct val="100000"/>
              </a:lnSpc>
            </a:pPr>
            <a:r>
              <a:rPr sz="2600" b="1">
                <a:solidFill>
                  <a:srgbClr val="E6EDF3"/>
                </a:solidFill>
                <a:latin typeface="Meiryo"/>
              </a:rPr>
              <a:t>今後の展望</a:t>
            </a:r>
          </a:p>
        </p:txBody>
      </p:sp>
      <p:sp>
        <p:nvSpPr>
          <p:cNvPr id="5" name="TextBox 4"/>
          <p:cNvSpPr txBox="1"/>
          <p:nvPr/>
        </p:nvSpPr>
        <p:spPr>
          <a:xfrm>
            <a:off x="502920" y="6510528"/>
            <a:ext cx="7315200" cy="274320"/>
          </a:xfrm>
          <a:prstGeom prst="rect">
            <a:avLst/>
          </a:prstGeom>
          <a:noFill/>
        </p:spPr>
        <p:txBody>
          <a:bodyPr wrap="square" anchor="t" lIns="0" rIns="0" tIns="0" bIns="0">
            <a:spAutoFit/>
          </a:bodyPr>
          <a:lstStyle/>
          <a:p>
            <a:pPr algn="l">
              <a:lnSpc>
                <a:spcPct val="100000"/>
              </a:lnSpc>
            </a:pPr>
            <a:r>
              <a:rPr sz="900" b="0">
                <a:solidFill>
                  <a:srgbClr val="8B949E"/>
                </a:solidFill>
                <a:latin typeface="Meiryo"/>
              </a:rPr>
              <a:t>真界哲学  報告書</a:t>
            </a:r>
          </a:p>
        </p:txBody>
      </p:sp>
      <p:sp>
        <p:nvSpPr>
          <p:cNvPr id="6" name="TextBox 5"/>
          <p:cNvSpPr txBox="1"/>
          <p:nvPr/>
        </p:nvSpPr>
        <p:spPr>
          <a:xfrm>
            <a:off x="502920" y="1417320"/>
            <a:ext cx="11155680" cy="1463040"/>
          </a:xfrm>
          <a:prstGeom prst="rect">
            <a:avLst/>
          </a:prstGeom>
          <a:noFill/>
        </p:spPr>
        <p:txBody>
          <a:bodyPr wrap="square" anchor="t" lIns="0" rIns="0" tIns="0" bIns="0">
            <a:spAutoFit/>
          </a:bodyPr>
          <a:lstStyle/>
          <a:p>
            <a:pPr algn="l">
              <a:lnSpc>
                <a:spcPct val="135000"/>
              </a:lnSpc>
              <a:spcAft>
                <a:spcPts val="800"/>
              </a:spcAft>
            </a:pPr>
            <a:r>
              <a:rPr sz="1300" b="0">
                <a:solidFill>
                  <a:srgbClr val="E6EDF3"/>
                </a:solidFill>
                <a:latin typeface="Meiryo"/>
              </a:rPr>
              <a:t>・ 真界哲学は、経営工学への実装（HUMOS）で</a:t>
            </a:r>
            <a:r>
              <a:rPr sz="1300" b="1">
                <a:solidFill>
                  <a:srgbClr val="58A6FF"/>
                </a:solidFill>
                <a:latin typeface="Meiryo"/>
              </a:rPr>
              <a:t>はじめて</a:t>
            </a:r>
            <a:r>
              <a:rPr sz="1300" b="0">
                <a:solidFill>
                  <a:srgbClr val="E6EDF3"/>
                </a:solidFill>
                <a:latin typeface="Meiryo"/>
              </a:rPr>
              <a:t>実証された。</a:t>
            </a:r>
          </a:p>
          <a:p>
            <a:pPr algn="l">
              <a:lnSpc>
                <a:spcPct val="135000"/>
              </a:lnSpc>
              <a:spcAft>
                <a:spcPts val="800"/>
              </a:spcAft>
            </a:pPr>
            <a:r>
              <a:rPr sz="1300" b="0">
                <a:solidFill>
                  <a:srgbClr val="E6EDF3"/>
                </a:solidFill>
                <a:latin typeface="Meiryo"/>
              </a:rPr>
              <a:t>・ 他のサイバネティクス実装（医療・製造・ロボティクス・社会システムなど）への一般化は正直未確定。</a:t>
            </a:r>
          </a:p>
          <a:p>
            <a:pPr algn="l">
              <a:lnSpc>
                <a:spcPct val="135000"/>
              </a:lnSpc>
              <a:spcAft>
                <a:spcPts val="800"/>
              </a:spcAft>
            </a:pPr>
            <a:r>
              <a:rPr sz="1300" b="0">
                <a:solidFill>
                  <a:srgbClr val="E6EDF3"/>
                </a:solidFill>
                <a:latin typeface="Meiryo"/>
              </a:rPr>
              <a:t>・ 5 元素が汎用的な「理」の元素順序セットである以上、真界哲学は</a:t>
            </a:r>
            <a:r>
              <a:rPr sz="1300" b="1">
                <a:solidFill>
                  <a:srgbClr val="58A6FF"/>
                </a:solidFill>
                <a:latin typeface="Meiryo"/>
              </a:rPr>
              <a:t>任意のドメインへの展開を構造的に許容</a:t>
            </a:r>
            <a:r>
              <a:rPr sz="1300" b="0">
                <a:solidFill>
                  <a:srgbClr val="E6EDF3"/>
                </a:solidFill>
                <a:latin typeface="Meiryo"/>
              </a:rPr>
              <a:t>している。</a:t>
            </a:r>
          </a:p>
          <a:p>
            <a:pPr algn="l">
              <a:lnSpc>
                <a:spcPct val="135000"/>
              </a:lnSpc>
              <a:spcAft>
                <a:spcPts val="800"/>
              </a:spcAft>
            </a:pPr>
            <a:r>
              <a:rPr sz="1300" b="0">
                <a:solidFill>
                  <a:srgbClr val="E6EDF3"/>
                </a:solidFill>
                <a:latin typeface="Meiryo"/>
              </a:rPr>
              <a:t>・ 今後の課題＝この哲学を他の実装に展開し、</a:t>
            </a:r>
            <a:r>
              <a:rPr sz="1300" b="1">
                <a:solidFill>
                  <a:srgbClr val="D29922"/>
                </a:solidFill>
                <a:latin typeface="Meiryo"/>
              </a:rPr>
              <a:t>送り込みの成功を繰り返し</a:t>
            </a:r>
            <a:r>
              <a:rPr sz="1300" b="0">
                <a:solidFill>
                  <a:srgbClr val="E6EDF3"/>
                </a:solidFill>
                <a:latin typeface="Meiryo"/>
              </a:rPr>
              <a:t>、真界一派の学説として確立すること。</a:t>
            </a:r>
          </a:p>
        </p:txBody>
      </p:sp>
      <p:sp>
        <p:nvSpPr>
          <p:cNvPr id="7" name="Rounded Rectangle 6"/>
          <p:cNvSpPr/>
          <p:nvPr/>
        </p:nvSpPr>
        <p:spPr>
          <a:xfrm>
            <a:off x="502920" y="4709160"/>
            <a:ext cx="11201400" cy="1371600"/>
          </a:xfrm>
          <a:prstGeom prst="roundRect">
            <a:avLst>
              <a:gd name="adj" fmla="val 6000"/>
            </a:avLst>
          </a:prstGeom>
          <a:solidFill>
            <a:srgbClr val="21262D"/>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4892040"/>
            <a:ext cx="10698480" cy="1005840"/>
          </a:xfrm>
          <a:prstGeom prst="rect">
            <a:avLst/>
          </a:prstGeom>
          <a:noFill/>
        </p:spPr>
        <p:txBody>
          <a:bodyPr wrap="square" anchor="ctr" lIns="0" rIns="0" tIns="0" bIns="0">
            <a:spAutoFit/>
          </a:bodyPr>
          <a:lstStyle/>
          <a:p>
            <a:pPr algn="l">
              <a:lnSpc>
                <a:spcPct val="120000"/>
              </a:lnSpc>
            </a:pPr>
            <a:r>
              <a:rPr sz="1400" b="0">
                <a:solidFill>
                  <a:srgbClr val="E6EDF3"/>
                </a:solidFill>
                <a:latin typeface="Meiryo"/>
              </a:rPr>
              <a:t>真界は、記号界と物理界がもたれかかりで交互に運動し、理と実働がトラストの中でブリッジされ、</a:t>
            </a:r>
          </a:p>
          <a:p>
            <a:pPr algn="l">
              <a:lnSpc>
                <a:spcPct val="120000"/>
              </a:lnSpc>
            </a:pPr>
            <a:r>
              <a:rPr sz="1600" b="1">
                <a:solidFill>
                  <a:srgbClr val="58A6FF"/>
                </a:solidFill>
                <a:latin typeface="Meiryo"/>
              </a:rPr>
              <a:t>未来永劫のドミノとして自己持続する系</a:t>
            </a:r>
            <a:r>
              <a:rPr sz="1400" b="0">
                <a:solidFill>
                  <a:srgbClr val="E6EDF3"/>
                </a:solidFill>
                <a:latin typeface="Meiryo"/>
              </a:rPr>
              <a:t>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